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5E"/>
        </a:solidFill>
      </p:bgPr>
    </p:bg>
    <p:spTree>
      <p:nvGrpSpPr>
        <p:cNvPr id="1" name=""/>
        <p:cNvGrpSpPr/>
        <p:nvPr/>
      </p:nvGrpSpPr>
      <p:grpSpPr>
        <a:xfrm>
          <a:off x="0" y="0"/>
          <a:ext cx="0" cy="0"/>
          <a:chOff x="0" y="0"/>
          <a:chExt cx="0" cy="0"/>
        </a:xfrm>
      </p:grpSpPr>
      <p:sp>
        <p:nvSpPr>
          <p:cNvPr id="2" name="Text 0"/>
          <p:cNvSpPr/>
          <p:nvPr/>
        </p:nvSpPr>
        <p:spPr>
          <a:xfrm>
            <a:off x="822960" y="1417320"/>
            <a:ext cx="10515600" cy="914400"/>
          </a:xfrm>
          <a:prstGeom prst="rect">
            <a:avLst/>
          </a:prstGeom>
          <a:noFill/>
          <a:ln/>
        </p:spPr>
        <p:txBody>
          <a:bodyPr wrap="square" rtlCol="0" anchor="ctr"/>
          <a:lstStyle/>
          <a:p>
            <a:pPr indent="0" marL="0">
              <a:buNone/>
            </a:pPr>
            <a:r>
              <a:rPr lang="en-US" sz="5400" b="1" dirty="0">
                <a:solidFill>
                  <a:srgbClr val="FFFFFF"/>
                </a:solidFill>
                <a:latin typeface="Yu Gothic" pitchFamily="34" charset="0"/>
                <a:ea typeface="Yu Gothic" pitchFamily="34" charset="-122"/>
                <a:cs typeface="Yu Gothic" pitchFamily="34" charset="-120"/>
              </a:rPr>
              <a:t>iFont</a:t>
            </a:r>
            <a:endParaRPr lang="en-US" sz="5400" dirty="0"/>
          </a:p>
        </p:txBody>
      </p:sp>
      <p:sp>
        <p:nvSpPr>
          <p:cNvPr id="3" name="Text 1"/>
          <p:cNvSpPr/>
          <p:nvPr/>
        </p:nvSpPr>
        <p:spPr>
          <a:xfrm>
            <a:off x="822960" y="2377440"/>
            <a:ext cx="10515600" cy="548640"/>
          </a:xfrm>
          <a:prstGeom prst="rect">
            <a:avLst/>
          </a:prstGeom>
          <a:noFill/>
          <a:ln/>
        </p:spPr>
        <p:txBody>
          <a:bodyPr wrap="square" rtlCol="0" anchor="ctr"/>
          <a:lstStyle/>
          <a:p>
            <a:pPr indent="0" marL="0">
              <a:buNone/>
            </a:pPr>
            <a:r>
              <a:rPr lang="en-US" sz="2400" dirty="0">
                <a:solidFill>
                  <a:srgbClr val="CADCFC"/>
                </a:solidFill>
                <a:latin typeface="Yu Gothic" pitchFamily="34" charset="0"/>
                <a:ea typeface="Yu Gothic" pitchFamily="34" charset="-122"/>
                <a:cs typeface="Yu Gothic" pitchFamily="34" charset="-120"/>
              </a:rPr>
              <a:t>インクルーシブ字幕プロジェクト — 全体像と現状</a:t>
            </a:r>
            <a:endParaRPr lang="en-US" sz="2400" dirty="0"/>
          </a:p>
        </p:txBody>
      </p:sp>
      <p:sp>
        <p:nvSpPr>
          <p:cNvPr id="4" name="Text 2"/>
          <p:cNvSpPr/>
          <p:nvPr/>
        </p:nvSpPr>
        <p:spPr>
          <a:xfrm>
            <a:off x="822960" y="3200400"/>
            <a:ext cx="10241280" cy="1188720"/>
          </a:xfrm>
          <a:prstGeom prst="rect">
            <a:avLst/>
          </a:prstGeom>
          <a:noFill/>
          <a:ln/>
        </p:spPr>
        <p:txBody>
          <a:bodyPr wrap="square" rtlCol="0" anchor="ctr"/>
          <a:lstStyle/>
          <a:p>
            <a:pPr indent="0" marL="0">
              <a:lnSpc>
                <a:spcPct val="135000"/>
              </a:lnSpc>
              <a:buNone/>
            </a:pPr>
            <a:r>
              <a:rPr lang="en-US" sz="1500" dirty="0">
                <a:solidFill>
                  <a:srgbClr val="E8EEFC"/>
                </a:solidFill>
                <a:latin typeface="Yu Gothic" pitchFamily="34" charset="0"/>
                <a:ea typeface="Yu Gothic" pitchFamily="34" charset="-122"/>
                <a:cs typeface="Yu Gothic" pitchFamily="34" charset="-120"/>
              </a:rPr>
              <a:t>音声で「いち早く理解する」ゲーム性を、視覚でも同じだけ成立させたい。</a:t>
            </a:r>
            <a:endParaRPr lang="en-US" sz="1500" dirty="0"/>
          </a:p>
          <a:p>
            <a:pPr indent="0" marL="0">
              <a:lnSpc>
                <a:spcPct val="135000"/>
              </a:lnSpc>
              <a:buNone/>
            </a:pPr>
            <a:r>
              <a:rPr lang="en-US" sz="1500" dirty="0">
                <a:solidFill>
                  <a:srgbClr val="E8EEFC"/>
                </a:solidFill>
                <a:latin typeface="Yu Gothic" pitchFamily="34" charset="0"/>
                <a:ea typeface="Yu Gothic" pitchFamily="34" charset="-122"/>
                <a:cs typeface="Yu Gothic" pitchFamily="34" charset="-120"/>
              </a:rPr>
              <a:t>そのために、文字ごとの「聞こえやすさ」と「見えやすさ」を同じ物差しで測り、</a:t>
            </a:r>
            <a:endParaRPr lang="en-US" sz="1500" dirty="0"/>
          </a:p>
          <a:p>
            <a:pPr indent="0" marL="0">
              <a:lnSpc>
                <a:spcPct val="135000"/>
              </a:lnSpc>
              <a:buNone/>
            </a:pPr>
            <a:r>
              <a:rPr lang="en-US" sz="1500" dirty="0">
                <a:solidFill>
                  <a:srgbClr val="E8EEFC"/>
                </a:solidFill>
                <a:latin typeface="Yu Gothic" pitchFamily="34" charset="0"/>
                <a:ea typeface="Yu Gothic" pitchFamily="34" charset="-122"/>
                <a:cs typeface="Yu Gothic" pitchFamily="34" charset="-120"/>
              </a:rPr>
              <a:t>測ったデータで、音声と同期して動く字幕を作る。</a:t>
            </a:r>
            <a:endParaRPr lang="en-US" sz="1500" dirty="0"/>
          </a:p>
        </p:txBody>
      </p:sp>
      <p:sp>
        <p:nvSpPr>
          <p:cNvPr id="5" name="Text 3"/>
          <p:cNvSpPr/>
          <p:nvPr/>
        </p:nvSpPr>
        <p:spPr>
          <a:xfrm>
            <a:off x="822960" y="5074920"/>
            <a:ext cx="8229600" cy="365760"/>
          </a:xfrm>
          <a:prstGeom prst="rect">
            <a:avLst/>
          </a:prstGeom>
          <a:noFill/>
          <a:ln/>
        </p:spPr>
        <p:txBody>
          <a:bodyPr wrap="square"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2026-07-17  現状まとめ（初見の方向けの自己完結版）</a:t>
            </a:r>
            <a:endParaRPr lang="en-US" sz="1300" dirty="0"/>
          </a:p>
        </p:txBody>
      </p:sp>
      <p:sp>
        <p:nvSpPr>
          <p:cNvPr id="6" name="Text 4"/>
          <p:cNvSpPr/>
          <p:nvPr/>
        </p:nvSpPr>
        <p:spPr>
          <a:xfrm>
            <a:off x="822960" y="5486400"/>
            <a:ext cx="8229600" cy="365760"/>
          </a:xfrm>
          <a:prstGeom prst="rect">
            <a:avLst/>
          </a:prstGeom>
          <a:noFill/>
          <a:ln/>
        </p:spPr>
        <p:txBody>
          <a:bodyPr wrap="square" rtlCol="0" anchor="ctr"/>
          <a:lstStyle/>
          <a:p>
            <a:pPr indent="0" marL="0">
              <a:buNone/>
            </a:pPr>
            <a:r>
              <a:rPr lang="en-US" sz="1200" dirty="0">
                <a:solidFill>
                  <a:srgbClr val="9FB0D8"/>
                </a:solidFill>
                <a:latin typeface="Yu Gothic" pitchFamily="34" charset="0"/>
                <a:ea typeface="Yu Gothic" pitchFamily="34" charset="-122"/>
                <a:cs typeface="Yu Gothic" pitchFamily="34" charset="-120"/>
              </a:rPr>
              <a:t>github.com/qurihara/iFont  /  scrapbox.io/qurihara/iFont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GOAL</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やりたいこと — 音声のゲーム性を、視覚でも成立させる</a:t>
            </a:r>
            <a:endParaRPr lang="en-US" sz="2600" dirty="0"/>
          </a:p>
        </p:txBody>
      </p:sp>
      <p:sp>
        <p:nvSpPr>
          <p:cNvPr id="4" name="Shape 2"/>
          <p:cNvSpPr/>
          <p:nvPr/>
        </p:nvSpPr>
        <p:spPr>
          <a:xfrm>
            <a:off x="548640" y="1737360"/>
            <a:ext cx="3566160" cy="3200400"/>
          </a:xfrm>
          <a:prstGeom prst="roundRect">
            <a:avLst>
              <a:gd name="adj" fmla="val 2286"/>
            </a:avLst>
          </a:prstGeom>
          <a:solidFill>
            <a:srgbClr val="F4F6FB"/>
          </a:solidFill>
          <a:ln w="9525">
            <a:solidFill>
              <a:srgbClr val="E3E6EE"/>
            </a:solidFill>
            <a:prstDash val="solid"/>
          </a:ln>
        </p:spPr>
      </p:sp>
      <p:sp>
        <p:nvSpPr>
          <p:cNvPr id="5" name="Shape 3"/>
          <p:cNvSpPr/>
          <p:nvPr/>
        </p:nvSpPr>
        <p:spPr>
          <a:xfrm>
            <a:off x="868680" y="2057400"/>
            <a:ext cx="347472" cy="347472"/>
          </a:xfrm>
          <a:prstGeom prst="ellipse">
            <a:avLst/>
          </a:prstGeom>
          <a:solidFill>
            <a:srgbClr val="1E2A5E"/>
          </a:solidFill>
          <a:ln/>
        </p:spPr>
      </p:sp>
      <p:sp>
        <p:nvSpPr>
          <p:cNvPr id="6" name="Text 4"/>
          <p:cNvSpPr/>
          <p:nvPr/>
        </p:nvSpPr>
        <p:spPr>
          <a:xfrm>
            <a:off x="813816" y="2039112"/>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7" name="Text 5"/>
          <p:cNvSpPr/>
          <p:nvPr/>
        </p:nvSpPr>
        <p:spPr>
          <a:xfrm>
            <a:off x="1371600" y="1993392"/>
            <a:ext cx="2651760" cy="731520"/>
          </a:xfrm>
          <a:prstGeom prst="rect">
            <a:avLst/>
          </a:prstGeom>
          <a:noFill/>
          <a:ln/>
        </p:spPr>
        <p:txBody>
          <a:bodyPr wrap="square" rtlCol="0" anchor="ctr"/>
          <a:lstStyle/>
          <a:p>
            <a:pPr indent="0" marL="0">
              <a:buNone/>
            </a:pPr>
            <a:r>
              <a:rPr lang="en-US" sz="1700" b="1" dirty="0">
                <a:solidFill>
                  <a:srgbClr val="1E2A5E"/>
                </a:solidFill>
                <a:latin typeface="Yu Gothic" pitchFamily="34" charset="0"/>
                <a:ea typeface="Yu Gothic" pitchFamily="34" charset="-122"/>
                <a:cs typeface="Yu Gothic" pitchFamily="34" charset="-120"/>
              </a:rPr>
              <a:t>音声ならではのゲーム性</a:t>
            </a:r>
            <a:endParaRPr lang="en-US" sz="1700" dirty="0"/>
          </a:p>
        </p:txBody>
      </p:sp>
      <p:sp>
        <p:nvSpPr>
          <p:cNvPr id="8" name="Text 6"/>
          <p:cNvSpPr/>
          <p:nvPr/>
        </p:nvSpPr>
        <p:spPr>
          <a:xfrm>
            <a:off x="868680" y="2834640"/>
            <a:ext cx="2971800" cy="1920240"/>
          </a:xfrm>
          <a:prstGeom prst="rect">
            <a:avLst/>
          </a:prstGeom>
          <a:noFill/>
          <a:ln/>
        </p:spPr>
        <p:txBody>
          <a:bodyPr wrap="square"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競技かるたや早押しクイズでは、言葉が少しずつ届く音声だからこそ「どこで分かるか」を競える。文字で全部見せたら勝負にならない。</a:t>
            </a:r>
            <a:endParaRPr lang="en-US" sz="1300" dirty="0"/>
          </a:p>
        </p:txBody>
      </p:sp>
      <p:sp>
        <p:nvSpPr>
          <p:cNvPr id="9" name="Shape 7"/>
          <p:cNvSpPr/>
          <p:nvPr/>
        </p:nvSpPr>
        <p:spPr>
          <a:xfrm>
            <a:off x="4480560" y="1737360"/>
            <a:ext cx="3566160" cy="3200400"/>
          </a:xfrm>
          <a:prstGeom prst="roundRect">
            <a:avLst>
              <a:gd name="adj" fmla="val 2286"/>
            </a:avLst>
          </a:prstGeom>
          <a:solidFill>
            <a:srgbClr val="F4F6FB"/>
          </a:solidFill>
          <a:ln w="9525">
            <a:solidFill>
              <a:srgbClr val="E3E6EE"/>
            </a:solidFill>
            <a:prstDash val="solid"/>
          </a:ln>
        </p:spPr>
      </p:sp>
      <p:sp>
        <p:nvSpPr>
          <p:cNvPr id="10" name="Shape 8"/>
          <p:cNvSpPr/>
          <p:nvPr/>
        </p:nvSpPr>
        <p:spPr>
          <a:xfrm>
            <a:off x="4800600" y="2057400"/>
            <a:ext cx="347472" cy="347472"/>
          </a:xfrm>
          <a:prstGeom prst="ellipse">
            <a:avLst/>
          </a:prstGeom>
          <a:solidFill>
            <a:srgbClr val="C25B4E"/>
          </a:solidFill>
          <a:ln/>
        </p:spPr>
      </p:sp>
      <p:sp>
        <p:nvSpPr>
          <p:cNvPr id="11" name="Text 9"/>
          <p:cNvSpPr/>
          <p:nvPr/>
        </p:nvSpPr>
        <p:spPr>
          <a:xfrm>
            <a:off x="4745736" y="2039112"/>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2" name="Text 10"/>
          <p:cNvSpPr/>
          <p:nvPr/>
        </p:nvSpPr>
        <p:spPr>
          <a:xfrm>
            <a:off x="5303520" y="1993392"/>
            <a:ext cx="2651760" cy="731520"/>
          </a:xfrm>
          <a:prstGeom prst="rect">
            <a:avLst/>
          </a:prstGeom>
          <a:noFill/>
          <a:ln/>
        </p:spPr>
        <p:txBody>
          <a:bodyPr wrap="square" rtlCol="0" anchor="ctr"/>
          <a:lstStyle/>
          <a:p>
            <a:pPr indent="0" marL="0">
              <a:buNone/>
            </a:pPr>
            <a:r>
              <a:rPr lang="en-US" sz="1700" b="1" dirty="0">
                <a:solidFill>
                  <a:srgbClr val="C25B4E"/>
                </a:solidFill>
                <a:latin typeface="Yu Gothic" pitchFamily="34" charset="0"/>
                <a:ea typeface="Yu Gothic" pitchFamily="34" charset="-122"/>
                <a:cs typeface="Yu Gothic" pitchFamily="34" charset="-120"/>
              </a:rPr>
              <a:t>聴覚に頼れない人</a:t>
            </a:r>
            <a:endParaRPr lang="en-US" sz="1700" dirty="0"/>
          </a:p>
        </p:txBody>
      </p:sp>
      <p:sp>
        <p:nvSpPr>
          <p:cNvPr id="13" name="Text 11"/>
          <p:cNvSpPr/>
          <p:nvPr/>
        </p:nvSpPr>
        <p:spPr>
          <a:xfrm>
            <a:off x="4800600" y="2834640"/>
            <a:ext cx="2971800" cy="1920240"/>
          </a:xfrm>
          <a:prstGeom prst="rect">
            <a:avLst/>
          </a:prstGeom>
          <a:noFill/>
          <a:ln/>
        </p:spPr>
        <p:txBody>
          <a:bodyPr wrap="square"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聴覚障害などで音声が使えないと、このゲーム性ごと閉ざされる。普通の字幕は一度に全部見えてしまい、代わりにならない。</a:t>
            </a:r>
            <a:endParaRPr lang="en-US" sz="1300" dirty="0"/>
          </a:p>
        </p:txBody>
      </p:sp>
      <p:sp>
        <p:nvSpPr>
          <p:cNvPr id="14" name="Shape 12"/>
          <p:cNvSpPr/>
          <p:nvPr/>
        </p:nvSpPr>
        <p:spPr>
          <a:xfrm>
            <a:off x="8412480" y="1737360"/>
            <a:ext cx="3566160" cy="3200400"/>
          </a:xfrm>
          <a:prstGeom prst="roundRect">
            <a:avLst>
              <a:gd name="adj" fmla="val 2286"/>
            </a:avLst>
          </a:prstGeom>
          <a:solidFill>
            <a:srgbClr val="F4F6FB"/>
          </a:solidFill>
          <a:ln w="9525">
            <a:solidFill>
              <a:srgbClr val="E3E6EE"/>
            </a:solidFill>
            <a:prstDash val="solid"/>
          </a:ln>
        </p:spPr>
      </p:sp>
      <p:sp>
        <p:nvSpPr>
          <p:cNvPr id="15" name="Shape 13"/>
          <p:cNvSpPr/>
          <p:nvPr/>
        </p:nvSpPr>
        <p:spPr>
          <a:xfrm>
            <a:off x="8732520" y="2057400"/>
            <a:ext cx="347472" cy="347472"/>
          </a:xfrm>
          <a:prstGeom prst="ellipse">
            <a:avLst/>
          </a:prstGeom>
          <a:solidFill>
            <a:srgbClr val="2E7D8F"/>
          </a:solidFill>
          <a:ln/>
        </p:spPr>
      </p:sp>
      <p:sp>
        <p:nvSpPr>
          <p:cNvPr id="16" name="Text 14"/>
          <p:cNvSpPr/>
          <p:nvPr/>
        </p:nvSpPr>
        <p:spPr>
          <a:xfrm>
            <a:off x="8677656" y="2039112"/>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17" name="Text 15"/>
          <p:cNvSpPr/>
          <p:nvPr/>
        </p:nvSpPr>
        <p:spPr>
          <a:xfrm>
            <a:off x="9235440" y="1993392"/>
            <a:ext cx="2651760" cy="731520"/>
          </a:xfrm>
          <a:prstGeom prst="rect">
            <a:avLst/>
          </a:prstGeom>
          <a:noFill/>
          <a:ln/>
        </p:spPr>
        <p:txBody>
          <a:bodyPr wrap="square" rtlCol="0" anchor="ctr"/>
          <a:lstStyle/>
          <a:p>
            <a:pPr indent="0" marL="0">
              <a:buNone/>
            </a:pPr>
            <a:r>
              <a:rPr lang="en-US" sz="1700" b="1" dirty="0">
                <a:solidFill>
                  <a:srgbClr val="2E7D8F"/>
                </a:solidFill>
                <a:latin typeface="Yu Gothic" pitchFamily="34" charset="0"/>
                <a:ea typeface="Yu Gothic" pitchFamily="34" charset="-122"/>
                <a:cs typeface="Yu Gothic" pitchFamily="34" charset="-120"/>
              </a:rPr>
              <a:t>視覚で同じ体験を作る</a:t>
            </a:r>
            <a:endParaRPr lang="en-US" sz="1700" dirty="0"/>
          </a:p>
        </p:txBody>
      </p:sp>
      <p:sp>
        <p:nvSpPr>
          <p:cNvPr id="18" name="Text 16"/>
          <p:cNvSpPr/>
          <p:nvPr/>
        </p:nvSpPr>
        <p:spPr>
          <a:xfrm>
            <a:off x="8732520" y="2834640"/>
            <a:ext cx="2971800" cy="1920240"/>
          </a:xfrm>
          <a:prstGeom prst="rect">
            <a:avLst/>
          </a:prstGeom>
          <a:noFill/>
          <a:ln/>
        </p:spPr>
        <p:txBody>
          <a:bodyPr wrap="square"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文字を「少しずつ分かるように」時間をかけて見せれば、目でも同じ勝負ができるはず。その見せ方を科学的に設計する。</a:t>
            </a:r>
            <a:endParaRPr lang="en-US" sz="1300" dirty="0"/>
          </a:p>
        </p:txBody>
      </p:sp>
      <p:sp>
        <p:nvSpPr>
          <p:cNvPr id="19" name="Text 17"/>
          <p:cNvSpPr/>
          <p:nvPr/>
        </p:nvSpPr>
        <p:spPr>
          <a:xfrm>
            <a:off x="548640" y="5303520"/>
            <a:ext cx="11064240" cy="457200"/>
          </a:xfrm>
          <a:prstGeom prst="rect">
            <a:avLst/>
          </a:prstGeom>
          <a:noFill/>
          <a:ln/>
        </p:spPr>
        <p:txBody>
          <a:bodyPr wrap="square" rtlCol="0" anchor="ctr"/>
          <a:lstStyle/>
          <a:p>
            <a:pPr indent="0" marL="0">
              <a:buNone/>
            </a:pPr>
            <a:r>
              <a:rPr lang="en-US" sz="1500" b="1" dirty="0">
                <a:solidFill>
                  <a:srgbClr val="C25B4E"/>
                </a:solidFill>
                <a:latin typeface="Yu Gothic" pitchFamily="34" charset="0"/>
                <a:ea typeface="Yu Gothic" pitchFamily="34" charset="-122"/>
                <a:cs typeface="Yu Gothic" pitchFamily="34" charset="-120"/>
              </a:rPr>
              <a:t>設計目標  </a:t>
            </a:r>
            <a:pPr indent="0" marL="0">
              <a:buNone/>
            </a:pPr>
            <a:r>
              <a:rPr lang="en-US" sz="1500" dirty="0">
                <a:solidFill>
                  <a:srgbClr val="22283C"/>
                </a:solidFill>
                <a:latin typeface="Yu Gothic" pitchFamily="34" charset="0"/>
                <a:ea typeface="Yu Gothic" pitchFamily="34" charset="-122"/>
                <a:cs typeface="Yu Gothic" pitchFamily="34" charset="-120"/>
              </a:rPr>
              <a:t>音声を聞いている人と、字幕を見ている人が、同じ時点に同じだけ分かること。</a:t>
            </a:r>
            <a:endParaRPr lang="en-US" sz="1500" dirty="0"/>
          </a:p>
        </p:txBody>
      </p:sp>
      <p:sp>
        <p:nvSpPr>
          <p:cNvPr id="20" name="Text 18"/>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SYSTEM</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仕組みの全体像 — 1つの文章から、音声と「かな列」を同期して出す</a:t>
            </a:r>
            <a:endParaRPr lang="en-US" sz="2600" dirty="0"/>
          </a:p>
        </p:txBody>
      </p:sp>
      <p:sp>
        <p:nvSpPr>
          <p:cNvPr id="4" name="Shape 2"/>
          <p:cNvSpPr/>
          <p:nvPr/>
        </p:nvSpPr>
        <p:spPr>
          <a:xfrm>
            <a:off x="548640" y="1828800"/>
            <a:ext cx="2743200" cy="1828800"/>
          </a:xfrm>
          <a:prstGeom prst="roundRect">
            <a:avLst>
              <a:gd name="adj" fmla="val 4000"/>
            </a:avLst>
          </a:prstGeom>
          <a:solidFill>
            <a:srgbClr val="F4F6FB"/>
          </a:solidFill>
          <a:ln w="9525">
            <a:solidFill>
              <a:srgbClr val="E3E6EE"/>
            </a:solidFill>
            <a:prstDash val="solid"/>
          </a:ln>
        </p:spPr>
      </p:sp>
      <p:sp>
        <p:nvSpPr>
          <p:cNvPr id="5" name="Text 3"/>
          <p:cNvSpPr/>
          <p:nvPr/>
        </p:nvSpPr>
        <p:spPr>
          <a:xfrm>
            <a:off x="822960" y="2011680"/>
            <a:ext cx="2194560" cy="320040"/>
          </a:xfrm>
          <a:prstGeom prst="rect">
            <a:avLst/>
          </a:prstGeom>
          <a:noFill/>
          <a:ln/>
        </p:spPr>
        <p:txBody>
          <a:bodyPr wrap="square" rtlCol="0" anchor="ctr"/>
          <a:lstStyle/>
          <a:p>
            <a:pPr indent="0" marL="0">
              <a:buNone/>
            </a:pPr>
            <a:r>
              <a:rPr lang="en-US" sz="1300" b="1" dirty="0">
                <a:solidFill>
                  <a:srgbClr val="6B7280"/>
                </a:solidFill>
                <a:latin typeface="Yu Gothic" pitchFamily="34" charset="0"/>
                <a:ea typeface="Yu Gothic" pitchFamily="34" charset="-122"/>
                <a:cs typeface="Yu Gothic" pitchFamily="34" charset="-120"/>
              </a:rPr>
              <a:t>入力</a:t>
            </a:r>
            <a:endParaRPr lang="en-US" sz="1300" dirty="0"/>
          </a:p>
        </p:txBody>
      </p:sp>
      <p:sp>
        <p:nvSpPr>
          <p:cNvPr id="6" name="Text 4"/>
          <p:cNvSpPr/>
          <p:nvPr/>
        </p:nvSpPr>
        <p:spPr>
          <a:xfrm>
            <a:off x="822960" y="2377440"/>
            <a:ext cx="2286000" cy="365760"/>
          </a:xfrm>
          <a:prstGeom prst="rect">
            <a:avLst/>
          </a:prstGeom>
          <a:noFill/>
          <a:ln/>
        </p:spPr>
        <p:txBody>
          <a:bodyPr wrap="square"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かな漢字まじり文</a:t>
            </a:r>
            <a:endParaRPr lang="en-US" sz="1500" dirty="0"/>
          </a:p>
        </p:txBody>
      </p:sp>
      <p:sp>
        <p:nvSpPr>
          <p:cNvPr id="7" name="Text 5"/>
          <p:cNvSpPr/>
          <p:nvPr/>
        </p:nvSpPr>
        <p:spPr>
          <a:xfrm>
            <a:off x="822960" y="2788920"/>
            <a:ext cx="2286000" cy="731520"/>
          </a:xfrm>
          <a:prstGeom prst="rect">
            <a:avLst/>
          </a:prstGeom>
          <a:noFill/>
          <a:ln/>
        </p:spPr>
        <p:txBody>
          <a:bodyPr wrap="square" rtlCol="0" anchor="ctr"/>
          <a:lstStyle/>
          <a:p>
            <a:pPr indent="0" marL="0">
              <a:lnSpc>
                <a:spcPct val="125000"/>
              </a:lnSpc>
              <a:buNone/>
            </a:pPr>
            <a:r>
              <a:rPr lang="en-US" sz="1150" dirty="0">
                <a:solidFill>
                  <a:srgbClr val="6B7280"/>
                </a:solidFill>
                <a:latin typeface="Yu Gothic" pitchFamily="34" charset="0"/>
                <a:ea typeface="Yu Gothic" pitchFamily="34" charset="-122"/>
                <a:cs typeface="Yu Gothic" pitchFamily="34" charset="-120"/>
              </a:rPr>
              <a:t>例:「秋の田の…」</a:t>
            </a:r>
            <a:endParaRPr lang="en-US" sz="1150" dirty="0"/>
          </a:p>
          <a:p>
            <a:pPr indent="0" marL="0">
              <a:lnSpc>
                <a:spcPct val="125000"/>
              </a:lnSpc>
              <a:buNone/>
            </a:pPr>
            <a:r>
              <a:rPr lang="en-US" sz="1150" dirty="0">
                <a:solidFill>
                  <a:srgbClr val="6B7280"/>
                </a:solidFill>
                <a:latin typeface="Yu Gothic" pitchFamily="34" charset="0"/>
                <a:ea typeface="Yu Gothic" pitchFamily="34" charset="-122"/>
                <a:cs typeface="Yu Gothic" pitchFamily="34" charset="-120"/>
              </a:rPr>
              <a:t>古語(ゑ・ゐ)も含みうる</a:t>
            </a:r>
            <a:endParaRPr lang="en-US" sz="1150" dirty="0"/>
          </a:p>
        </p:txBody>
      </p:sp>
      <p:sp>
        <p:nvSpPr>
          <p:cNvPr id="8" name="Shape 6"/>
          <p:cNvSpPr/>
          <p:nvPr/>
        </p:nvSpPr>
        <p:spPr>
          <a:xfrm>
            <a:off x="3429000" y="2514600"/>
            <a:ext cx="548640" cy="457200"/>
          </a:xfrm>
          <a:prstGeom prst="rightArrow">
            <a:avLst/>
          </a:prstGeom>
          <a:solidFill>
            <a:srgbClr val="C8A44D"/>
          </a:solidFill>
          <a:ln/>
        </p:spPr>
      </p:sp>
      <p:sp>
        <p:nvSpPr>
          <p:cNvPr id="9" name="Shape 7"/>
          <p:cNvSpPr/>
          <p:nvPr/>
        </p:nvSpPr>
        <p:spPr>
          <a:xfrm>
            <a:off x="4114800" y="1828800"/>
            <a:ext cx="2926080" cy="1828800"/>
          </a:xfrm>
          <a:prstGeom prst="roundRect">
            <a:avLst>
              <a:gd name="adj" fmla="val 4000"/>
            </a:avLst>
          </a:prstGeom>
          <a:solidFill>
            <a:srgbClr val="F4F6FB"/>
          </a:solidFill>
          <a:ln w="9525">
            <a:solidFill>
              <a:srgbClr val="E3E6EE"/>
            </a:solidFill>
            <a:prstDash val="solid"/>
          </a:ln>
        </p:spPr>
      </p:sp>
      <p:sp>
        <p:nvSpPr>
          <p:cNvPr id="10" name="Text 8"/>
          <p:cNvSpPr/>
          <p:nvPr/>
        </p:nvSpPr>
        <p:spPr>
          <a:xfrm>
            <a:off x="4389120" y="2011680"/>
            <a:ext cx="2377440" cy="320040"/>
          </a:xfrm>
          <a:prstGeom prst="rect">
            <a:avLst/>
          </a:prstGeom>
          <a:noFill/>
          <a:ln/>
        </p:spPr>
        <p:txBody>
          <a:bodyPr wrap="square" rtlCol="0" anchor="ctr"/>
          <a:lstStyle/>
          <a:p>
            <a:pPr indent="0" marL="0">
              <a:buNone/>
            </a:pPr>
            <a:r>
              <a:rPr lang="en-US" sz="1300" b="1" dirty="0">
                <a:solidFill>
                  <a:srgbClr val="6B7280"/>
                </a:solidFill>
                <a:latin typeface="Yu Gothic" pitchFamily="34" charset="0"/>
                <a:ea typeface="Yu Gothic" pitchFamily="34" charset="-122"/>
                <a:cs typeface="Yu Gothic" pitchFamily="34" charset="-120"/>
              </a:rPr>
              <a:t>前処理</a:t>
            </a:r>
            <a:endParaRPr lang="en-US" sz="1300" dirty="0"/>
          </a:p>
        </p:txBody>
      </p:sp>
      <p:sp>
        <p:nvSpPr>
          <p:cNvPr id="11" name="Text 9"/>
          <p:cNvSpPr/>
          <p:nvPr/>
        </p:nvSpPr>
        <p:spPr>
          <a:xfrm>
            <a:off x="4389120" y="2377440"/>
            <a:ext cx="2468880" cy="365760"/>
          </a:xfrm>
          <a:prstGeom prst="rect">
            <a:avLst/>
          </a:prstGeom>
          <a:noFill/>
          <a:ln/>
        </p:spPr>
        <p:txBody>
          <a:bodyPr wrap="square"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読みを決める</a:t>
            </a:r>
            <a:endParaRPr lang="en-US" sz="1500" dirty="0"/>
          </a:p>
        </p:txBody>
      </p:sp>
      <p:sp>
        <p:nvSpPr>
          <p:cNvPr id="12" name="Text 10"/>
          <p:cNvSpPr/>
          <p:nvPr/>
        </p:nvSpPr>
        <p:spPr>
          <a:xfrm>
            <a:off x="4389120" y="2788920"/>
            <a:ext cx="2468880" cy="777240"/>
          </a:xfrm>
          <a:prstGeom prst="rect">
            <a:avLst/>
          </a:prstGeom>
          <a:noFill/>
          <a:ln/>
        </p:spPr>
        <p:txBody>
          <a:bodyPr wrap="square" rtlCol="0" anchor="ctr"/>
          <a:lstStyle/>
          <a:p>
            <a:pPr indent="0" marL="0">
              <a:lnSpc>
                <a:spcPct val="125000"/>
              </a:lnSpc>
              <a:buNone/>
            </a:pPr>
            <a:r>
              <a:rPr lang="en-US" sz="1150" dirty="0">
                <a:solidFill>
                  <a:srgbClr val="6B7280"/>
                </a:solidFill>
                <a:latin typeface="Yu Gothic" pitchFamily="34" charset="0"/>
                <a:ea typeface="Yu Gothic" pitchFamily="34" charset="-122"/>
                <a:cs typeface="Yu Gothic" pitchFamily="34" charset="-120"/>
              </a:rPr>
              <a:t>形態素解析＋ふりがなで上書き可。百人一首は人手検証済みの読み対応表を使う</a:t>
            </a:r>
            <a:endParaRPr lang="en-US" sz="1150" dirty="0"/>
          </a:p>
        </p:txBody>
      </p:sp>
      <p:sp>
        <p:nvSpPr>
          <p:cNvPr id="13" name="Shape 11"/>
          <p:cNvSpPr/>
          <p:nvPr/>
        </p:nvSpPr>
        <p:spPr>
          <a:xfrm>
            <a:off x="7178040" y="2514600"/>
            <a:ext cx="548640" cy="457200"/>
          </a:xfrm>
          <a:prstGeom prst="rightArrow">
            <a:avLst/>
          </a:prstGeom>
          <a:solidFill>
            <a:srgbClr val="C8A44D"/>
          </a:solidFill>
          <a:ln/>
        </p:spPr>
      </p:sp>
      <p:sp>
        <p:nvSpPr>
          <p:cNvPr id="14" name="Shape 12"/>
          <p:cNvSpPr/>
          <p:nvPr/>
        </p:nvSpPr>
        <p:spPr>
          <a:xfrm>
            <a:off x="7863840" y="1554480"/>
            <a:ext cx="3749040" cy="1234440"/>
          </a:xfrm>
          <a:prstGeom prst="roundRect">
            <a:avLst>
              <a:gd name="adj" fmla="val 5926"/>
            </a:avLst>
          </a:prstGeom>
          <a:solidFill>
            <a:srgbClr val="F4F6FB"/>
          </a:solidFill>
          <a:ln w="9525">
            <a:solidFill>
              <a:srgbClr val="E3E6EE"/>
            </a:solidFill>
            <a:prstDash val="solid"/>
          </a:ln>
        </p:spPr>
      </p:sp>
      <p:sp>
        <p:nvSpPr>
          <p:cNvPr id="15" name="Text 13"/>
          <p:cNvSpPr/>
          <p:nvPr/>
        </p:nvSpPr>
        <p:spPr>
          <a:xfrm>
            <a:off x="8138160" y="1691640"/>
            <a:ext cx="3291840" cy="365760"/>
          </a:xfrm>
          <a:prstGeom prst="rect">
            <a:avLst/>
          </a:prstGeom>
          <a:noFill/>
          <a:ln/>
        </p:spPr>
        <p:txBody>
          <a:bodyPr wrap="square" rtlCol="0" anchor="ctr"/>
          <a:lstStyle/>
          <a:p>
            <a:pPr indent="0" marL="0">
              <a:buNone/>
            </a:pPr>
            <a:r>
              <a:rPr lang="en-US" sz="1400" b="1" dirty="0">
                <a:solidFill>
                  <a:srgbClr val="2E7D8F"/>
                </a:solidFill>
                <a:latin typeface="Yu Gothic" pitchFamily="34" charset="0"/>
                <a:ea typeface="Yu Gothic" pitchFamily="34" charset="-122"/>
                <a:cs typeface="Yu Gothic" pitchFamily="34" charset="-120"/>
              </a:rPr>
              <a:t>出力①  音声（従来どおり）</a:t>
            </a:r>
            <a:endParaRPr lang="en-US" sz="1400" dirty="0"/>
          </a:p>
        </p:txBody>
      </p:sp>
      <p:sp>
        <p:nvSpPr>
          <p:cNvPr id="16" name="Text 14"/>
          <p:cNvSpPr/>
          <p:nvPr/>
        </p:nvSpPr>
        <p:spPr>
          <a:xfrm>
            <a:off x="8138160" y="2103120"/>
            <a:ext cx="3291840" cy="548640"/>
          </a:xfrm>
          <a:prstGeom prst="rect">
            <a:avLst/>
          </a:prstGeom>
          <a:noFill/>
          <a:ln/>
        </p:spPr>
        <p:txBody>
          <a:bodyPr wrap="square"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読み上げ音声。1モーラ0.2秒・一定の音高で合成する</a:t>
            </a:r>
            <a:endParaRPr lang="en-US" sz="1150" dirty="0"/>
          </a:p>
        </p:txBody>
      </p:sp>
      <p:sp>
        <p:nvSpPr>
          <p:cNvPr id="17" name="Shape 15"/>
          <p:cNvSpPr/>
          <p:nvPr/>
        </p:nvSpPr>
        <p:spPr>
          <a:xfrm>
            <a:off x="7863840" y="2971800"/>
            <a:ext cx="3749040" cy="1600200"/>
          </a:xfrm>
          <a:prstGeom prst="roundRect">
            <a:avLst>
              <a:gd name="adj" fmla="val 4571"/>
            </a:avLst>
          </a:prstGeom>
          <a:solidFill>
            <a:srgbClr val="F4F6FB"/>
          </a:solidFill>
          <a:ln w="9525">
            <a:solidFill>
              <a:srgbClr val="E3E6EE"/>
            </a:solidFill>
            <a:prstDash val="solid"/>
          </a:ln>
        </p:spPr>
      </p:sp>
      <p:sp>
        <p:nvSpPr>
          <p:cNvPr id="18" name="Text 16"/>
          <p:cNvSpPr/>
          <p:nvPr/>
        </p:nvSpPr>
        <p:spPr>
          <a:xfrm>
            <a:off x="8138160" y="3108960"/>
            <a:ext cx="3291840" cy="365760"/>
          </a:xfrm>
          <a:prstGeom prst="rect">
            <a:avLst/>
          </a:prstGeom>
          <a:noFill/>
          <a:ln/>
        </p:spPr>
        <p:txBody>
          <a:bodyPr wrap="square" rtlCol="0" anchor="ctr"/>
          <a:lstStyle/>
          <a:p>
            <a:pPr indent="0" marL="0">
              <a:buNone/>
            </a:pPr>
            <a:r>
              <a:rPr lang="en-US" sz="1400" b="1" dirty="0">
                <a:solidFill>
                  <a:srgbClr val="C25B4E"/>
                </a:solidFill>
                <a:latin typeface="Yu Gothic" pitchFamily="34" charset="0"/>
                <a:ea typeface="Yu Gothic" pitchFamily="34" charset="-122"/>
                <a:cs typeface="Yu Gothic" pitchFamily="34" charset="-120"/>
              </a:rPr>
              <a:t>出力②  かな列（新設・本研究）</a:t>
            </a:r>
            <a:endParaRPr lang="en-US" sz="1400" dirty="0"/>
          </a:p>
        </p:txBody>
      </p:sp>
      <p:sp>
        <p:nvSpPr>
          <p:cNvPr id="19" name="Text 17"/>
          <p:cNvSpPr/>
          <p:nvPr/>
        </p:nvSpPr>
        <p:spPr>
          <a:xfrm>
            <a:off x="8138160" y="3520440"/>
            <a:ext cx="3291840" cy="1005840"/>
          </a:xfrm>
          <a:prstGeom prst="rect">
            <a:avLst/>
          </a:prstGeom>
          <a:noFill/>
          <a:ln/>
        </p:spPr>
        <p:txBody>
          <a:bodyPr wrap="square" rtlCol="0" anchor="ctr"/>
          <a:lstStyle/>
          <a:p>
            <a:pPr indent="0" marL="0">
              <a:lnSpc>
                <a:spcPct val="125000"/>
              </a:lnSpc>
              <a:buNone/>
            </a:pPr>
            <a:r>
              <a:rPr lang="en-US" sz="1150" dirty="0">
                <a:solidFill>
                  <a:srgbClr val="6B7280"/>
                </a:solidFill>
                <a:latin typeface="Yu Gothic" pitchFamily="34" charset="0"/>
                <a:ea typeface="Yu Gothic" pitchFamily="34" charset="-122"/>
                <a:cs typeface="Yu Gothic" pitchFamily="34" charset="-120"/>
              </a:rPr>
              <a:t>漢字は読みかなに直し、既存のかなは表記どおりに残す（助詞の「は」は「は」、古語の「ゑ」は「ゑ」、小書きは小書きのまま）。各字を音声と同期した時間設計で少しずつ見せる</a:t>
            </a:r>
            <a:endParaRPr lang="en-US" sz="1150" dirty="0"/>
          </a:p>
        </p:txBody>
      </p:sp>
      <p:sp>
        <p:nvSpPr>
          <p:cNvPr id="20" name="Text 18"/>
          <p:cNvSpPr/>
          <p:nvPr/>
        </p:nvSpPr>
        <p:spPr>
          <a:xfrm>
            <a:off x="548640" y="5029200"/>
            <a:ext cx="11064240" cy="822960"/>
          </a:xfrm>
          <a:prstGeom prst="rect">
            <a:avLst/>
          </a:prstGeom>
          <a:noFill/>
          <a:ln/>
        </p:spPr>
        <p:txBody>
          <a:bodyPr wrap="square" rtlCol="0" anchor="ctr"/>
          <a:lstStyle/>
          <a:p>
            <a:pPr indent="0" marL="0">
              <a:lnSpc>
                <a:spcPct val="130000"/>
              </a:lnSpc>
              <a:buNone/>
            </a:pPr>
            <a:r>
              <a:rPr lang="en-US" sz="1300" b="1" dirty="0">
                <a:solidFill>
                  <a:srgbClr val="1E2A5E"/>
                </a:solidFill>
                <a:latin typeface="Yu Gothic" pitchFamily="34" charset="0"/>
                <a:ea typeface="Yu Gothic" pitchFamily="34" charset="-122"/>
                <a:cs typeface="Yu Gothic" pitchFamily="34" charset="-120"/>
              </a:rPr>
              <a:t>同期の規則  </a:t>
            </a:r>
            <a:pPr indent="0" marL="0">
              <a:lnSpc>
                <a:spcPct val="130000"/>
              </a:lnSpc>
              <a:buNone/>
            </a:pPr>
            <a:r>
              <a:rPr lang="en-US" sz="1300" dirty="0">
                <a:solidFill>
                  <a:srgbClr val="22283C"/>
                </a:solidFill>
                <a:latin typeface="Yu Gothic" pitchFamily="34" charset="0"/>
                <a:ea typeface="Yu Gothic" pitchFamily="34" charset="-122"/>
                <a:cs typeface="Yu Gothic" pitchFamily="34" charset="-120"/>
              </a:rPr>
              <a:t>表示する字は「その字が実際に読まれる音」に同期する。「を」はオの音、「ゑ」はエの音、助詞の「は」はワの音。単独の音を持たない「っ・ゃゅょ」は描画規則で扱い、時間の基準は「モーラ1つあたり0.2秒」とする。</a:t>
            </a:r>
            <a:endParaRPr lang="en-US" sz="1300" dirty="0"/>
          </a:p>
        </p:txBody>
      </p:sp>
      <p:sp>
        <p:nvSpPr>
          <p:cNvPr id="21" name="Text 19"/>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22"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CORE IDEA</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中核のアイデア — 「聞こえやすさ」と「見えやすさ」を同じ物差しでつなぐ</a:t>
            </a:r>
            <a:endParaRPr lang="en-US" sz="2600" dirty="0"/>
          </a:p>
        </p:txBody>
      </p:sp>
      <p:pic>
        <p:nvPicPr>
          <p:cNvPr id="4" name="Image 0" descr="/Users/kurihara/Library/CloudStorage/GoogleDrive-qurihara@gmail.com/マイドライブ/share/google_desktop_share/iFont/paper/figs/fig_concept.png">    </p:cNvPr>
          <p:cNvPicPr>
            <a:picLocks noChangeAspect="1"/>
          </p:cNvPicPr>
          <p:nvPr/>
        </p:nvPicPr>
        <p:blipFill>
          <a:blip r:embed="rId1"/>
          <a:stretch>
            <a:fillRect/>
          </a:stretch>
        </p:blipFill>
        <p:spPr>
          <a:xfrm>
            <a:off x="1737360" y="1645920"/>
            <a:ext cx="8686800" cy="3639312"/>
          </a:xfrm>
          <a:prstGeom prst="rect">
            <a:avLst/>
          </a:prstGeom>
        </p:spPr>
      </p:pic>
      <p:sp>
        <p:nvSpPr>
          <p:cNvPr id="5" name="Text 2"/>
          <p:cNvSpPr/>
          <p:nvPr/>
        </p:nvSpPr>
        <p:spPr>
          <a:xfrm>
            <a:off x="640080" y="5440680"/>
            <a:ext cx="10881360" cy="914400"/>
          </a:xfrm>
          <a:prstGeom prst="rect">
            <a:avLst/>
          </a:prstGeom>
          <a:noFill/>
          <a:ln/>
        </p:spPr>
        <p:txBody>
          <a:bodyPr wrap="square" rtlCol="0" anchor="ctr"/>
          <a:lstStyle/>
          <a:p>
            <a:pPr indent="0" marL="0">
              <a:lnSpc>
                <a:spcPct val="130000"/>
              </a:lnSpc>
              <a:buNone/>
            </a:pPr>
            <a:r>
              <a:rPr lang="en-US" sz="1300" b="1" dirty="0">
                <a:solidFill>
                  <a:srgbClr val="1E2A5E"/>
                </a:solidFill>
                <a:latin typeface="Yu Gothic" pitchFamily="34" charset="0"/>
                <a:ea typeface="Yu Gothic" pitchFamily="34" charset="-122"/>
                <a:cs typeface="Yu Gothic" pitchFamily="34" charset="-120"/>
              </a:rPr>
              <a:t>変換 g  </a:t>
            </a:r>
            <a:pPr indent="0" marL="0">
              <a:lnSpc>
                <a:spcPct val="130000"/>
              </a:lnSpc>
              <a:buNone/>
            </a:pPr>
            <a:r>
              <a:rPr lang="en-US" sz="1300" dirty="0">
                <a:solidFill>
                  <a:srgbClr val="22283C"/>
                </a:solidFill>
                <a:latin typeface="Yu Gothic" pitchFamily="34" charset="0"/>
                <a:ea typeface="Yu Gothic" pitchFamily="34" charset="-122"/>
                <a:cs typeface="Yu Gothic" pitchFamily="34" charset="-120"/>
              </a:rPr>
              <a:t>かな1文字について「音をどこまで聞かせたら何%の人が分かるか」と「字をどれだけ鮮明に見せたら何%の人が分かるか」の曲線を実測し、同じ認識率どうしで対応づける。gが決まれば、音声の進み方に合わせて各字の見せ方(時間×鮮明度)を機械的に設計できる。</a:t>
            </a:r>
            <a:endParaRPr lang="en-US" sz="1300" dirty="0"/>
          </a:p>
        </p:txBody>
      </p:sp>
      <p:sp>
        <p:nvSpPr>
          <p:cNvPr id="6" name="Text 3"/>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DESIGN OF UNITS</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文字と音の対応 — 音は68、字は78。ずれは「読み」でつなぐ</a:t>
            </a:r>
            <a:endParaRPr lang="en-US" sz="2600" dirty="0"/>
          </a:p>
        </p:txBody>
      </p:sp>
      <p:sp>
        <p:nvSpPr>
          <p:cNvPr id="4" name="Shape 2"/>
          <p:cNvSpPr/>
          <p:nvPr/>
        </p:nvSpPr>
        <p:spPr>
          <a:xfrm>
            <a:off x="548640" y="1691640"/>
            <a:ext cx="5486400" cy="4206240"/>
          </a:xfrm>
          <a:prstGeom prst="roundRect">
            <a:avLst>
              <a:gd name="adj" fmla="val 1739"/>
            </a:avLst>
          </a:prstGeom>
          <a:solidFill>
            <a:srgbClr val="F4F6FB"/>
          </a:solidFill>
          <a:ln w="9525">
            <a:solidFill>
              <a:srgbClr val="E3E6EE"/>
            </a:solidFill>
            <a:prstDash val="solid"/>
          </a:ln>
        </p:spPr>
      </p:sp>
      <p:sp>
        <p:nvSpPr>
          <p:cNvPr id="5" name="Text 3"/>
          <p:cNvSpPr/>
          <p:nvPr/>
        </p:nvSpPr>
        <p:spPr>
          <a:xfrm>
            <a:off x="868680" y="1920240"/>
            <a:ext cx="4754880" cy="365760"/>
          </a:xfrm>
          <a:prstGeom prst="rect">
            <a:avLst/>
          </a:prstGeom>
          <a:noFill/>
          <a:ln/>
        </p:spPr>
        <p:txBody>
          <a:bodyPr wrap="square" rtlCol="0" anchor="ctr"/>
          <a:lstStyle/>
          <a:p>
            <a:pPr indent="0" marL="0">
              <a:buNone/>
            </a:pPr>
            <a:r>
              <a:rPr lang="en-US" sz="1500" b="1" dirty="0">
                <a:solidFill>
                  <a:srgbClr val="2E7D8F"/>
                </a:solidFill>
                <a:latin typeface="Yu Gothic" pitchFamily="34" charset="0"/>
                <a:ea typeface="Yu Gothic" pitchFamily="34" charset="-122"/>
                <a:cs typeface="Yu Gothic" pitchFamily="34" charset="-120"/>
              </a:rPr>
              <a:t>音（聴覚）は68種類</a:t>
            </a:r>
            <a:endParaRPr lang="en-US" sz="1500" dirty="0"/>
          </a:p>
        </p:txBody>
      </p:sp>
      <p:sp>
        <p:nvSpPr>
          <p:cNvPr id="6" name="Text 4"/>
          <p:cNvSpPr/>
          <p:nvPr/>
        </p:nvSpPr>
        <p:spPr>
          <a:xfrm>
            <a:off x="868680" y="2331720"/>
            <a:ext cx="4892040" cy="3291840"/>
          </a:xfrm>
          <a:prstGeom prst="rect">
            <a:avLst/>
          </a:prstGeom>
          <a:noFill/>
          <a:ln/>
        </p:spPr>
        <p:txBody>
          <a:bodyPr wrap="square" rtlCol="0" anchor="ctr"/>
          <a:lstStyle/>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日本語で互いに聞き分けられる音だけを使う</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を・ぢ・づ は お・じ・ず と同じ音なので外す（合成音声でも同一ファイルになることを確認済み）</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ゔ も多くの人が ぶ と区別して聞かないため外す</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っ・ゃゅょ は単独では音にならないため、もともと音の側に存在しない</a:t>
            </a:r>
            <a:endParaRPr lang="en-US" sz="1250" dirty="0"/>
          </a:p>
        </p:txBody>
      </p:sp>
      <p:sp>
        <p:nvSpPr>
          <p:cNvPr id="7" name="Shape 5"/>
          <p:cNvSpPr/>
          <p:nvPr/>
        </p:nvSpPr>
        <p:spPr>
          <a:xfrm>
            <a:off x="6309360" y="1691640"/>
            <a:ext cx="5303520" cy="4206240"/>
          </a:xfrm>
          <a:prstGeom prst="roundRect">
            <a:avLst>
              <a:gd name="adj" fmla="val 1739"/>
            </a:avLst>
          </a:prstGeom>
          <a:solidFill>
            <a:srgbClr val="F4F6FB"/>
          </a:solidFill>
          <a:ln w="9525">
            <a:solidFill>
              <a:srgbClr val="E3E6EE"/>
            </a:solidFill>
            <a:prstDash val="solid"/>
          </a:ln>
        </p:spPr>
      </p:sp>
      <p:sp>
        <p:nvSpPr>
          <p:cNvPr id="8" name="Text 6"/>
          <p:cNvSpPr/>
          <p:nvPr/>
        </p:nvSpPr>
        <p:spPr>
          <a:xfrm>
            <a:off x="6629400" y="1920240"/>
            <a:ext cx="4663440" cy="365760"/>
          </a:xfrm>
          <a:prstGeom prst="rect">
            <a:avLst/>
          </a:prstGeom>
          <a:noFill/>
          <a:ln/>
        </p:spPr>
        <p:txBody>
          <a:bodyPr wrap="square" rtlCol="0" anchor="ctr"/>
          <a:lstStyle/>
          <a:p>
            <a:pPr indent="0" marL="0">
              <a:buNone/>
            </a:pPr>
            <a:r>
              <a:rPr lang="en-US" sz="1500" b="1" dirty="0">
                <a:solidFill>
                  <a:srgbClr val="C25B4E"/>
                </a:solidFill>
                <a:latin typeface="Yu Gothic" pitchFamily="34" charset="0"/>
                <a:ea typeface="Yu Gothic" pitchFamily="34" charset="-122"/>
                <a:cs typeface="Yu Gothic" pitchFamily="34" charset="-120"/>
              </a:rPr>
              <a:t>かな（視覚）は78種類</a:t>
            </a:r>
            <a:endParaRPr lang="en-US" sz="1500" dirty="0"/>
          </a:p>
        </p:txBody>
      </p:sp>
      <p:sp>
        <p:nvSpPr>
          <p:cNvPr id="9" name="Text 7"/>
          <p:cNvSpPr/>
          <p:nvPr/>
        </p:nvSpPr>
        <p:spPr>
          <a:xfrm>
            <a:off x="6629400" y="2331720"/>
            <a:ext cx="4709160" cy="3291840"/>
          </a:xfrm>
          <a:prstGeom prst="rect">
            <a:avLst/>
          </a:prstGeom>
          <a:noFill/>
          <a:ln/>
        </p:spPr>
        <p:txBody>
          <a:bodyPr wrap="square" rtlCol="0" anchor="ctr"/>
          <a:lstStyle/>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表記どおりに表示する方式では、を・ゐ・ゑ・小書きが実際に画面に出る。だから全字形の「見えやすさ」を測る</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百人一首では、札が取れるかを決める先頭2文字の領域に「を」が21組も現れる</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同じ音の字はその音の曲線と同期する（を↔オ、ゑ↔エ、ゐ↔イ、ゔ↔ブ）</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音を持たない っ・ゃゅょ は、隣の字と組にする描画規則で同期する</a:t>
            </a:r>
            <a:endParaRPr lang="en-US" sz="1250" dirty="0"/>
          </a:p>
        </p:txBody>
      </p:sp>
      <p:sp>
        <p:nvSpPr>
          <p:cNvPr id="10" name="Text 8"/>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11" name="Text 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EXPERIMENT PLAN</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実験の全体構成 — まず「速さの限界」を測り、次に「曲線の本体」を測る</a:t>
            </a:r>
            <a:endParaRPr lang="en-US" sz="2600" dirty="0"/>
          </a:p>
        </p:txBody>
      </p:sp>
      <p:sp>
        <p:nvSpPr>
          <p:cNvPr id="4" name="Shape 2"/>
          <p:cNvSpPr/>
          <p:nvPr/>
        </p:nvSpPr>
        <p:spPr>
          <a:xfrm>
            <a:off x="548640" y="1691640"/>
            <a:ext cx="3657600" cy="4023360"/>
          </a:xfrm>
          <a:prstGeom prst="roundRect">
            <a:avLst>
              <a:gd name="adj" fmla="val 2000"/>
            </a:avLst>
          </a:prstGeom>
          <a:solidFill>
            <a:srgbClr val="F4F6FB"/>
          </a:solidFill>
          <a:ln w="9525">
            <a:solidFill>
              <a:srgbClr val="E3E6EE"/>
            </a:solidFill>
            <a:prstDash val="solid"/>
          </a:ln>
        </p:spPr>
      </p:sp>
      <p:sp>
        <p:nvSpPr>
          <p:cNvPr id="5" name="Text 3"/>
          <p:cNvSpPr/>
          <p:nvPr/>
        </p:nvSpPr>
        <p:spPr>
          <a:xfrm>
            <a:off x="868680" y="1920240"/>
            <a:ext cx="3108960" cy="365760"/>
          </a:xfrm>
          <a:prstGeom prst="rect">
            <a:avLst/>
          </a:prstGeom>
          <a:noFill/>
          <a:ln/>
        </p:spPr>
        <p:txBody>
          <a:bodyPr wrap="square" rtlCol="0" anchor="ctr"/>
          <a:lstStyle/>
          <a:p>
            <a:pPr indent="0" marL="0">
              <a:buNone/>
            </a:pPr>
            <a:r>
              <a:rPr lang="en-US" sz="1600" b="1" dirty="0">
                <a:solidFill>
                  <a:srgbClr val="1E2A5E"/>
                </a:solidFill>
                <a:latin typeface="Yu Gothic" pitchFamily="34" charset="0"/>
                <a:ea typeface="Yu Gothic" pitchFamily="34" charset="-122"/>
                <a:cs typeface="Yu Gothic" pitchFamily="34" charset="-120"/>
              </a:rPr>
              <a:t>第1段階  乙課題（較正）</a:t>
            </a:r>
            <a:endParaRPr lang="en-US" sz="1600" dirty="0"/>
          </a:p>
        </p:txBody>
      </p:sp>
      <p:sp>
        <p:nvSpPr>
          <p:cNvPr id="6" name="Text 4"/>
          <p:cNvSpPr/>
          <p:nvPr/>
        </p:nvSpPr>
        <p:spPr>
          <a:xfrm>
            <a:off x="868680" y="2377440"/>
            <a:ext cx="3108960" cy="2743200"/>
          </a:xfrm>
          <a:prstGeom prst="rect">
            <a:avLst/>
          </a:prstGeom>
          <a:noFill/>
          <a:ln/>
        </p:spPr>
        <p:txBody>
          <a:bodyPr wrap="square" rtlCol="0" anchor="ctr"/>
          <a:lstStyle/>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文字（音）を3つ連続で提示し、間隔Sを50〜700msで変えながら、1番目と2番目を答えてもらう</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視覚・聴覚それぞれで行う</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「前の字が次の字にかき消される」効果が、どの間隔から消えるかを測る</a:t>
            </a:r>
            <a:endParaRPr lang="en-US" sz="1250" dirty="0"/>
          </a:p>
        </p:txBody>
      </p:sp>
      <p:sp>
        <p:nvSpPr>
          <p:cNvPr id="7" name="Shape 5"/>
          <p:cNvSpPr/>
          <p:nvPr/>
        </p:nvSpPr>
        <p:spPr>
          <a:xfrm>
            <a:off x="4343400" y="3383280"/>
            <a:ext cx="685800" cy="502920"/>
          </a:xfrm>
          <a:prstGeom prst="rightArrow">
            <a:avLst/>
          </a:prstGeom>
          <a:solidFill>
            <a:srgbClr val="C8A44D"/>
          </a:solidFill>
          <a:ln/>
        </p:spPr>
      </p:sp>
      <p:sp>
        <p:nvSpPr>
          <p:cNvPr id="8" name="Shape 6"/>
          <p:cNvSpPr/>
          <p:nvPr/>
        </p:nvSpPr>
        <p:spPr>
          <a:xfrm>
            <a:off x="5120640" y="2377440"/>
            <a:ext cx="2286000" cy="2194560"/>
          </a:xfrm>
          <a:prstGeom prst="roundRect">
            <a:avLst>
              <a:gd name="adj" fmla="val 3333"/>
            </a:avLst>
          </a:prstGeom>
          <a:solidFill>
            <a:srgbClr val="F4F6FB"/>
          </a:solidFill>
          <a:ln w="9525">
            <a:solidFill>
              <a:srgbClr val="E3E6EE"/>
            </a:solidFill>
            <a:prstDash val="solid"/>
          </a:ln>
        </p:spPr>
      </p:sp>
      <p:sp>
        <p:nvSpPr>
          <p:cNvPr id="9" name="Text 7"/>
          <p:cNvSpPr/>
          <p:nvPr/>
        </p:nvSpPr>
        <p:spPr>
          <a:xfrm>
            <a:off x="5349240" y="2560320"/>
            <a:ext cx="1828800" cy="365760"/>
          </a:xfrm>
          <a:prstGeom prst="rect">
            <a:avLst/>
          </a:prstGeom>
          <a:noFill/>
          <a:ln/>
        </p:spPr>
        <p:txBody>
          <a:bodyPr wrap="square" rtlCol="0" anchor="ctr"/>
          <a:lstStyle/>
          <a:p>
            <a:pPr indent="0" marL="0">
              <a:buNone/>
            </a:pPr>
            <a:r>
              <a:rPr lang="en-US" sz="1500" b="1" dirty="0">
                <a:solidFill>
                  <a:srgbClr val="C8A44D"/>
                </a:solidFill>
                <a:latin typeface="Yu Gothic" pitchFamily="34" charset="0"/>
                <a:ea typeface="Yu Gothic" pitchFamily="34" charset="-122"/>
                <a:cs typeface="Yu Gothic" pitchFamily="34" charset="-120"/>
              </a:rPr>
              <a:t>判定</a:t>
            </a:r>
            <a:endParaRPr lang="en-US" sz="1500" dirty="0"/>
          </a:p>
        </p:txBody>
      </p:sp>
      <p:sp>
        <p:nvSpPr>
          <p:cNvPr id="10" name="Text 8"/>
          <p:cNvSpPr/>
          <p:nvPr/>
        </p:nvSpPr>
        <p:spPr>
          <a:xfrm>
            <a:off x="5349240" y="2971800"/>
            <a:ext cx="1874520" cy="1371600"/>
          </a:xfrm>
          <a:prstGeom prst="rect">
            <a:avLst/>
          </a:prstGeom>
          <a:noFill/>
          <a:ln/>
        </p:spPr>
        <p:txBody>
          <a:bodyPr wrap="square" rtlCol="0" anchor="ctr"/>
          <a:lstStyle/>
          <a:p>
            <a:pPr indent="0" marL="0">
              <a:lnSpc>
                <a:spcPct val="125000"/>
              </a:lnSpc>
              <a:buNone/>
            </a:pPr>
            <a:r>
              <a:rPr lang="en-US" sz="1250" dirty="0">
                <a:solidFill>
                  <a:srgbClr val="22283C"/>
                </a:solidFill>
                <a:latin typeface="Yu Gothic" pitchFamily="34" charset="0"/>
                <a:ea typeface="Yu Gothic" pitchFamily="34" charset="-122"/>
                <a:cs typeface="Yu Gothic" pitchFamily="34" charset="-120"/>
              </a:rPr>
              <a:t>かるた規定の0.2秒間隔で、成績が頭打ちの値と同じか？</a:t>
            </a:r>
            <a:endParaRPr lang="en-US" sz="1250" dirty="0"/>
          </a:p>
        </p:txBody>
      </p:sp>
      <p:sp>
        <p:nvSpPr>
          <p:cNvPr id="11" name="Shape 9"/>
          <p:cNvSpPr/>
          <p:nvPr/>
        </p:nvSpPr>
        <p:spPr>
          <a:xfrm>
            <a:off x="7543800" y="3383280"/>
            <a:ext cx="685800" cy="502920"/>
          </a:xfrm>
          <a:prstGeom prst="rightArrow">
            <a:avLst/>
          </a:prstGeom>
          <a:solidFill>
            <a:srgbClr val="C8A44D"/>
          </a:solidFill>
          <a:ln/>
        </p:spPr>
      </p:sp>
      <p:sp>
        <p:nvSpPr>
          <p:cNvPr id="12" name="Shape 10"/>
          <p:cNvSpPr/>
          <p:nvPr/>
        </p:nvSpPr>
        <p:spPr>
          <a:xfrm>
            <a:off x="8321040" y="1691640"/>
            <a:ext cx="3337560" cy="4023360"/>
          </a:xfrm>
          <a:prstGeom prst="roundRect">
            <a:avLst>
              <a:gd name="adj" fmla="val 2192"/>
            </a:avLst>
          </a:prstGeom>
          <a:solidFill>
            <a:srgbClr val="F4F6FB"/>
          </a:solidFill>
          <a:ln w="9525">
            <a:solidFill>
              <a:srgbClr val="E3E6EE"/>
            </a:solidFill>
            <a:prstDash val="solid"/>
          </a:ln>
        </p:spPr>
      </p:sp>
      <p:sp>
        <p:nvSpPr>
          <p:cNvPr id="13" name="Text 11"/>
          <p:cNvSpPr/>
          <p:nvPr/>
        </p:nvSpPr>
        <p:spPr>
          <a:xfrm>
            <a:off x="8595360" y="1920240"/>
            <a:ext cx="2926080" cy="365760"/>
          </a:xfrm>
          <a:prstGeom prst="rect">
            <a:avLst/>
          </a:prstGeom>
          <a:noFill/>
          <a:ln/>
        </p:spPr>
        <p:txBody>
          <a:bodyPr wrap="square" rtlCol="0" anchor="ctr"/>
          <a:lstStyle/>
          <a:p>
            <a:pPr indent="0" marL="0">
              <a:buNone/>
            </a:pPr>
            <a:r>
              <a:rPr lang="en-US" sz="1600" b="1" dirty="0">
                <a:solidFill>
                  <a:srgbClr val="2E7D8F"/>
                </a:solidFill>
                <a:latin typeface="Yu Gothic" pitchFamily="34" charset="0"/>
                <a:ea typeface="Yu Gothic" pitchFamily="34" charset="-122"/>
                <a:cs typeface="Yu Gothic" pitchFamily="34" charset="-120"/>
              </a:rPr>
              <a:t>第2段階  frac課題（gの本体）</a:t>
            </a:r>
            <a:endParaRPr lang="en-US" sz="1600" dirty="0"/>
          </a:p>
        </p:txBody>
      </p:sp>
      <p:sp>
        <p:nvSpPr>
          <p:cNvPr id="14" name="Text 12"/>
          <p:cNvSpPr/>
          <p:nvPr/>
        </p:nvSpPr>
        <p:spPr>
          <a:xfrm>
            <a:off x="8595360" y="2377440"/>
            <a:ext cx="2926080" cy="2926080"/>
          </a:xfrm>
          <a:prstGeom prst="rect">
            <a:avLst/>
          </a:prstGeom>
          <a:noFill/>
          <a:ln/>
        </p:spPr>
        <p:txBody>
          <a:bodyPr wrap="square" rtlCol="0" anchor="ctr"/>
          <a:lstStyle/>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聴覚: 1文字と2文字（前の音の影響を含む）の両方を必ず行う</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視覚: 1文字（78字）。0.2秒に干渉が残る場合だけ2文字も行う</a:t>
            </a:r>
            <a:endParaRPr lang="en-US" sz="1250" dirty="0"/>
          </a:p>
          <a:p>
            <a:pPr marL="342900" indent="-342900">
              <a:lnSpc>
                <a:spcPct val="125000"/>
              </a:lnSpc>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総額は上限10万円。配分は乙課題への統合を受けて再計算中</a:t>
            </a:r>
            <a:endParaRPr lang="en-US" sz="1250" dirty="0"/>
          </a:p>
        </p:txBody>
      </p:sp>
      <p:sp>
        <p:nvSpPr>
          <p:cNvPr id="15" name="Text 13"/>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16" name="Text 1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CALIBRATION TASK</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乙課題 — 3つ連続で見せて（聞かせて）、前のものがどれだけ残るか</a:t>
            </a:r>
            <a:endParaRPr lang="en-US" sz="2600" dirty="0"/>
          </a:p>
        </p:txBody>
      </p:sp>
      <p:sp>
        <p:nvSpPr>
          <p:cNvPr id="4" name="Shape 2"/>
          <p:cNvSpPr/>
          <p:nvPr/>
        </p:nvSpPr>
        <p:spPr>
          <a:xfrm>
            <a:off x="822960" y="1920240"/>
            <a:ext cx="2514600" cy="822960"/>
          </a:xfrm>
          <a:prstGeom prst="chevron">
            <a:avLst/>
          </a:prstGeom>
          <a:solidFill>
            <a:srgbClr val="1E2A5E"/>
          </a:solidFill>
          <a:ln/>
        </p:spPr>
      </p:sp>
      <p:sp>
        <p:nvSpPr>
          <p:cNvPr id="5" name="Text 3"/>
          <p:cNvSpPr/>
          <p:nvPr/>
        </p:nvSpPr>
        <p:spPr>
          <a:xfrm>
            <a:off x="1097280" y="2121408"/>
            <a:ext cx="1920240" cy="457200"/>
          </a:xfrm>
          <a:prstGeom prst="rect">
            <a:avLst/>
          </a:prstGeom>
          <a:noFill/>
          <a:ln/>
        </p:spPr>
        <p:txBody>
          <a:bodyPr wrap="square"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1文字目</a:t>
            </a:r>
            <a:endParaRPr lang="en-US" sz="1500" dirty="0"/>
          </a:p>
        </p:txBody>
      </p:sp>
      <p:sp>
        <p:nvSpPr>
          <p:cNvPr id="6" name="Shape 4"/>
          <p:cNvSpPr/>
          <p:nvPr/>
        </p:nvSpPr>
        <p:spPr>
          <a:xfrm>
            <a:off x="3246120" y="1920240"/>
            <a:ext cx="2514600" cy="822960"/>
          </a:xfrm>
          <a:prstGeom prst="chevron">
            <a:avLst/>
          </a:prstGeom>
          <a:solidFill>
            <a:srgbClr val="2E7D8F"/>
          </a:solidFill>
          <a:ln/>
        </p:spPr>
      </p:sp>
      <p:sp>
        <p:nvSpPr>
          <p:cNvPr id="7" name="Text 5"/>
          <p:cNvSpPr/>
          <p:nvPr/>
        </p:nvSpPr>
        <p:spPr>
          <a:xfrm>
            <a:off x="3520440" y="2121408"/>
            <a:ext cx="1920240" cy="457200"/>
          </a:xfrm>
          <a:prstGeom prst="rect">
            <a:avLst/>
          </a:prstGeom>
          <a:noFill/>
          <a:ln/>
        </p:spPr>
        <p:txBody>
          <a:bodyPr wrap="square"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2文字目</a:t>
            </a:r>
            <a:endParaRPr lang="en-US" sz="1500" dirty="0"/>
          </a:p>
        </p:txBody>
      </p:sp>
      <p:sp>
        <p:nvSpPr>
          <p:cNvPr id="8" name="Shape 6"/>
          <p:cNvSpPr/>
          <p:nvPr/>
        </p:nvSpPr>
        <p:spPr>
          <a:xfrm>
            <a:off x="5669280" y="1920240"/>
            <a:ext cx="2514600" cy="822960"/>
          </a:xfrm>
          <a:prstGeom prst="chevron">
            <a:avLst/>
          </a:prstGeom>
          <a:solidFill>
            <a:srgbClr val="C8A44D"/>
          </a:solidFill>
          <a:ln/>
        </p:spPr>
      </p:sp>
      <p:sp>
        <p:nvSpPr>
          <p:cNvPr id="9" name="Text 7"/>
          <p:cNvSpPr/>
          <p:nvPr/>
        </p:nvSpPr>
        <p:spPr>
          <a:xfrm>
            <a:off x="5943600" y="2121408"/>
            <a:ext cx="1920240" cy="457200"/>
          </a:xfrm>
          <a:prstGeom prst="rect">
            <a:avLst/>
          </a:prstGeom>
          <a:noFill/>
          <a:ln/>
        </p:spPr>
        <p:txBody>
          <a:bodyPr wrap="square"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3文字目</a:t>
            </a:r>
            <a:endParaRPr lang="en-US" sz="1500" dirty="0"/>
          </a:p>
        </p:txBody>
      </p:sp>
      <p:sp>
        <p:nvSpPr>
          <p:cNvPr id="10" name="Shape 8"/>
          <p:cNvSpPr/>
          <p:nvPr/>
        </p:nvSpPr>
        <p:spPr>
          <a:xfrm>
            <a:off x="8092440" y="1920240"/>
            <a:ext cx="2514600" cy="822960"/>
          </a:xfrm>
          <a:prstGeom prst="chevron">
            <a:avLst/>
          </a:prstGeom>
          <a:solidFill>
            <a:srgbClr val="6B7280"/>
          </a:solidFill>
          <a:ln/>
        </p:spPr>
      </p:sp>
      <p:sp>
        <p:nvSpPr>
          <p:cNvPr id="11" name="Text 9"/>
          <p:cNvSpPr/>
          <p:nvPr/>
        </p:nvSpPr>
        <p:spPr>
          <a:xfrm>
            <a:off x="8366760" y="2121408"/>
            <a:ext cx="1920240" cy="457200"/>
          </a:xfrm>
          <a:prstGeom prst="rect">
            <a:avLst/>
          </a:prstGeom>
          <a:noFill/>
          <a:ln/>
        </p:spPr>
        <p:txBody>
          <a:bodyPr wrap="square"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白紙</a:t>
            </a:r>
            <a:endParaRPr lang="en-US" sz="1500" dirty="0"/>
          </a:p>
        </p:txBody>
      </p:sp>
      <p:sp>
        <p:nvSpPr>
          <p:cNvPr id="12" name="Text 10"/>
          <p:cNvSpPr/>
          <p:nvPr/>
        </p:nvSpPr>
        <p:spPr>
          <a:xfrm>
            <a:off x="2103120" y="2834640"/>
            <a:ext cx="1645920" cy="320040"/>
          </a:xfrm>
          <a:prstGeom prst="rect">
            <a:avLst/>
          </a:prstGeom>
          <a:noFill/>
          <a:ln/>
        </p:spPr>
        <p:txBody>
          <a:bodyPr wrap="square" rtlCol="0" anchor="ctr"/>
          <a:lstStyle/>
          <a:p>
            <a:pPr algn="ctr" indent="0" marL="0">
              <a:buNone/>
            </a:pPr>
            <a:r>
              <a:rPr lang="en-US" sz="1100" dirty="0">
                <a:solidFill>
                  <a:srgbClr val="6B7280"/>
                </a:solidFill>
                <a:latin typeface="Yu Gothic" pitchFamily="34" charset="0"/>
                <a:ea typeface="Yu Gothic" pitchFamily="34" charset="-122"/>
                <a:cs typeface="Yu Gothic" pitchFamily="34" charset="-120"/>
              </a:rPr>
              <a:t>← 間隔S →</a:t>
            </a:r>
            <a:endParaRPr lang="en-US" sz="1100" dirty="0"/>
          </a:p>
        </p:txBody>
      </p:sp>
      <p:sp>
        <p:nvSpPr>
          <p:cNvPr id="13" name="Text 11"/>
          <p:cNvSpPr/>
          <p:nvPr/>
        </p:nvSpPr>
        <p:spPr>
          <a:xfrm>
            <a:off x="4526280" y="2834640"/>
            <a:ext cx="1645920" cy="320040"/>
          </a:xfrm>
          <a:prstGeom prst="rect">
            <a:avLst/>
          </a:prstGeom>
          <a:noFill/>
          <a:ln/>
        </p:spPr>
        <p:txBody>
          <a:bodyPr wrap="square" rtlCol="0" anchor="ctr"/>
          <a:lstStyle/>
          <a:p>
            <a:pPr algn="ctr" indent="0" marL="0">
              <a:buNone/>
            </a:pPr>
            <a:r>
              <a:rPr lang="en-US" sz="1100" dirty="0">
                <a:solidFill>
                  <a:srgbClr val="6B7280"/>
                </a:solidFill>
                <a:latin typeface="Yu Gothic" pitchFamily="34" charset="0"/>
                <a:ea typeface="Yu Gothic" pitchFamily="34" charset="-122"/>
                <a:cs typeface="Yu Gothic" pitchFamily="34" charset="-120"/>
              </a:rPr>
              <a:t>← 間隔S →</a:t>
            </a:r>
            <a:endParaRPr lang="en-US" sz="1100" dirty="0"/>
          </a:p>
        </p:txBody>
      </p:sp>
      <p:sp>
        <p:nvSpPr>
          <p:cNvPr id="14" name="Text 12"/>
          <p:cNvSpPr/>
          <p:nvPr/>
        </p:nvSpPr>
        <p:spPr>
          <a:xfrm>
            <a:off x="7680960" y="2834640"/>
            <a:ext cx="3931920" cy="320040"/>
          </a:xfrm>
          <a:prstGeom prst="rect">
            <a:avLst/>
          </a:prstGeom>
          <a:noFill/>
          <a:ln/>
        </p:spPr>
        <p:txBody>
          <a:bodyPr wrap="square" rtlCol="0" anchor="ctr"/>
          <a:lstStyle/>
          <a:p>
            <a:pPr indent="0" marL="0">
              <a:buNone/>
            </a:pPr>
            <a:r>
              <a:rPr lang="en-US" sz="1150" b="1" dirty="0">
                <a:solidFill>
                  <a:srgbClr val="1E2A5E"/>
                </a:solidFill>
                <a:latin typeface="Yu Gothic" pitchFamily="34" charset="0"/>
                <a:ea typeface="Yu Gothic" pitchFamily="34" charset="-122"/>
                <a:cs typeface="Yu Gothic" pitchFamily="34" charset="-120"/>
              </a:rPr>
              <a:t>S = 50・83・133・200・300・450・700 ms</a:t>
            </a:r>
            <a:endParaRPr lang="en-US" sz="1150" dirty="0"/>
          </a:p>
        </p:txBody>
      </p:sp>
      <p:sp>
        <p:nvSpPr>
          <p:cNvPr id="15" name="Shape 13"/>
          <p:cNvSpPr/>
          <p:nvPr/>
        </p:nvSpPr>
        <p:spPr>
          <a:xfrm>
            <a:off x="548640" y="3383280"/>
            <a:ext cx="3566160" cy="2468880"/>
          </a:xfrm>
          <a:prstGeom prst="roundRect">
            <a:avLst>
              <a:gd name="adj" fmla="val 2963"/>
            </a:avLst>
          </a:prstGeom>
          <a:solidFill>
            <a:srgbClr val="F4F6FB"/>
          </a:solidFill>
          <a:ln w="9525">
            <a:solidFill>
              <a:srgbClr val="E3E6EE"/>
            </a:solidFill>
            <a:prstDash val="solid"/>
          </a:ln>
        </p:spPr>
      </p:sp>
      <p:sp>
        <p:nvSpPr>
          <p:cNvPr id="16" name="Text 14"/>
          <p:cNvSpPr/>
          <p:nvPr/>
        </p:nvSpPr>
        <p:spPr>
          <a:xfrm>
            <a:off x="822960" y="3566160"/>
            <a:ext cx="3017520" cy="594360"/>
          </a:xfrm>
          <a:prstGeom prst="rect">
            <a:avLst/>
          </a:prstGeom>
          <a:noFill/>
          <a:ln/>
        </p:spPr>
        <p:txBody>
          <a:bodyPr wrap="square" rtlCol="0" anchor="ctr"/>
          <a:lstStyle/>
          <a:p>
            <a:pPr indent="0" marL="0">
              <a:buNone/>
            </a:pPr>
            <a:r>
              <a:rPr lang="en-US" sz="1450" b="1" dirty="0">
                <a:solidFill>
                  <a:srgbClr val="1E2A5E"/>
                </a:solidFill>
                <a:latin typeface="Yu Gothic" pitchFamily="34" charset="0"/>
                <a:ea typeface="Yu Gothic" pitchFamily="34" charset="-122"/>
                <a:cs typeface="Yu Gothic" pitchFamily="34" charset="-120"/>
              </a:rPr>
              <a:t>答えるのは1番目と2番目</a:t>
            </a:r>
            <a:endParaRPr lang="en-US" sz="1450" dirty="0"/>
          </a:p>
        </p:txBody>
      </p:sp>
      <p:sp>
        <p:nvSpPr>
          <p:cNvPr id="17" name="Text 15"/>
          <p:cNvSpPr/>
          <p:nvPr/>
        </p:nvSpPr>
        <p:spPr>
          <a:xfrm>
            <a:off x="822960" y="4206240"/>
            <a:ext cx="3063240" cy="1554480"/>
          </a:xfrm>
          <a:prstGeom prst="rect">
            <a:avLst/>
          </a:prstGeom>
          <a:noFill/>
          <a:ln/>
        </p:spPr>
        <p:txBody>
          <a:bodyPr wrap="square" rtlCol="0" anchor="ctr"/>
          <a:lstStyle/>
          <a:p>
            <a:pPr indent="0" marL="0">
              <a:lnSpc>
                <a:spcPct val="128000"/>
              </a:lnSpc>
              <a:buNone/>
            </a:pPr>
            <a:r>
              <a:rPr lang="en-US" sz="1180" dirty="0">
                <a:solidFill>
                  <a:srgbClr val="22283C"/>
                </a:solidFill>
                <a:latin typeface="Yu Gothic" pitchFamily="34" charset="0"/>
                <a:ea typeface="Yu Gothic" pitchFamily="34" charset="-122"/>
                <a:cs typeface="Yu Gothic" pitchFamily="34" charset="-120"/>
              </a:rPr>
              <a:t>3番目は答えない。3番目の役割は「2番目の見え終わり・聞こえ終わりを、運用と同じ形（次の文字が来る）で揃える」こと。</a:t>
            </a:r>
            <a:endParaRPr lang="en-US" sz="1180" dirty="0"/>
          </a:p>
        </p:txBody>
      </p:sp>
      <p:sp>
        <p:nvSpPr>
          <p:cNvPr id="18" name="Shape 16"/>
          <p:cNvSpPr/>
          <p:nvPr/>
        </p:nvSpPr>
        <p:spPr>
          <a:xfrm>
            <a:off x="4480560" y="3383280"/>
            <a:ext cx="3566160" cy="2468880"/>
          </a:xfrm>
          <a:prstGeom prst="roundRect">
            <a:avLst>
              <a:gd name="adj" fmla="val 2963"/>
            </a:avLst>
          </a:prstGeom>
          <a:solidFill>
            <a:srgbClr val="F4F6FB"/>
          </a:solidFill>
          <a:ln w="9525">
            <a:solidFill>
              <a:srgbClr val="E3E6EE"/>
            </a:solidFill>
            <a:prstDash val="solid"/>
          </a:ln>
        </p:spPr>
      </p:sp>
      <p:sp>
        <p:nvSpPr>
          <p:cNvPr id="19" name="Text 17"/>
          <p:cNvSpPr/>
          <p:nvPr/>
        </p:nvSpPr>
        <p:spPr>
          <a:xfrm>
            <a:off x="4754880" y="3566160"/>
            <a:ext cx="3017520" cy="594360"/>
          </a:xfrm>
          <a:prstGeom prst="rect">
            <a:avLst/>
          </a:prstGeom>
          <a:noFill/>
          <a:ln/>
        </p:spPr>
        <p:txBody>
          <a:bodyPr wrap="square" rtlCol="0" anchor="ctr"/>
          <a:lstStyle/>
          <a:p>
            <a:pPr indent="0" marL="0">
              <a:buNone/>
            </a:pPr>
            <a:r>
              <a:rPr lang="en-US" sz="1450" b="1" dirty="0">
                <a:solidFill>
                  <a:srgbClr val="2E7D8F"/>
                </a:solidFill>
                <a:latin typeface="Yu Gothic" pitchFamily="34" charset="0"/>
                <a:ea typeface="Yu Gothic" pitchFamily="34" charset="-122"/>
                <a:cs typeface="Yu Gothic" pitchFamily="34" charset="-120"/>
              </a:rPr>
              <a:t>判定は曲線の中で完結</a:t>
            </a:r>
            <a:endParaRPr lang="en-US" sz="1450" dirty="0"/>
          </a:p>
        </p:txBody>
      </p:sp>
      <p:sp>
        <p:nvSpPr>
          <p:cNvPr id="20" name="Text 18"/>
          <p:cNvSpPr/>
          <p:nvPr/>
        </p:nvSpPr>
        <p:spPr>
          <a:xfrm>
            <a:off x="4754880" y="4206240"/>
            <a:ext cx="3063240" cy="1554480"/>
          </a:xfrm>
          <a:prstGeom prst="rect">
            <a:avLst/>
          </a:prstGeom>
          <a:noFill/>
          <a:ln/>
        </p:spPr>
        <p:txBody>
          <a:bodyPr wrap="square" rtlCol="0" anchor="ctr"/>
          <a:lstStyle/>
          <a:p>
            <a:pPr indent="0" marL="0">
              <a:lnSpc>
                <a:spcPct val="128000"/>
              </a:lnSpc>
              <a:buNone/>
            </a:pPr>
            <a:r>
              <a:rPr lang="en-US" sz="1180" dirty="0">
                <a:solidFill>
                  <a:srgbClr val="22283C"/>
                </a:solidFill>
                <a:latin typeface="Yu Gothic" pitchFamily="34" charset="0"/>
                <a:ea typeface="Yu Gothic" pitchFamily="34" charset="-122"/>
                <a:cs typeface="Yu Gothic" pitchFamily="34" charset="-120"/>
              </a:rPr>
              <a:t>間隔が十分長いときの成績が、その人の「急かされていないときの実力」。S=200msの成績がそれと同じなら、0.2秒間隔に干渉はない。</a:t>
            </a:r>
            <a:endParaRPr lang="en-US" sz="1180" dirty="0"/>
          </a:p>
        </p:txBody>
      </p:sp>
      <p:sp>
        <p:nvSpPr>
          <p:cNvPr id="21" name="Shape 19"/>
          <p:cNvSpPr/>
          <p:nvPr/>
        </p:nvSpPr>
        <p:spPr>
          <a:xfrm>
            <a:off x="8412480" y="3383280"/>
            <a:ext cx="3566160" cy="2468880"/>
          </a:xfrm>
          <a:prstGeom prst="roundRect">
            <a:avLst>
              <a:gd name="adj" fmla="val 2963"/>
            </a:avLst>
          </a:prstGeom>
          <a:solidFill>
            <a:srgbClr val="F4F6FB"/>
          </a:solidFill>
          <a:ln w="9525">
            <a:solidFill>
              <a:srgbClr val="E3E6EE"/>
            </a:solidFill>
            <a:prstDash val="solid"/>
          </a:ln>
        </p:spPr>
      </p:sp>
      <p:sp>
        <p:nvSpPr>
          <p:cNvPr id="22" name="Text 20"/>
          <p:cNvSpPr/>
          <p:nvPr/>
        </p:nvSpPr>
        <p:spPr>
          <a:xfrm>
            <a:off x="8686800" y="3566160"/>
            <a:ext cx="3017520" cy="594360"/>
          </a:xfrm>
          <a:prstGeom prst="rect">
            <a:avLst/>
          </a:prstGeom>
          <a:noFill/>
          <a:ln/>
        </p:spPr>
        <p:txBody>
          <a:bodyPr wrap="square" rtlCol="0" anchor="ctr"/>
          <a:lstStyle/>
          <a:p>
            <a:pPr indent="0" marL="0">
              <a:buNone/>
            </a:pPr>
            <a:r>
              <a:rPr lang="en-US" sz="1450" b="1" dirty="0">
                <a:solidFill>
                  <a:srgbClr val="C8A44D"/>
                </a:solidFill>
                <a:latin typeface="Yu Gothic" pitchFamily="34" charset="0"/>
                <a:ea typeface="Yu Gothic" pitchFamily="34" charset="-122"/>
                <a:cs typeface="Yu Gothic" pitchFamily="34" charset="-120"/>
              </a:rPr>
              <a:t>設計の工夫</a:t>
            </a:r>
            <a:endParaRPr lang="en-US" sz="1450" dirty="0"/>
          </a:p>
        </p:txBody>
      </p:sp>
      <p:sp>
        <p:nvSpPr>
          <p:cNvPr id="23" name="Text 21"/>
          <p:cNvSpPr/>
          <p:nvPr/>
        </p:nvSpPr>
        <p:spPr>
          <a:xfrm>
            <a:off x="8686800" y="4206240"/>
            <a:ext cx="3063240" cy="1554480"/>
          </a:xfrm>
          <a:prstGeom prst="rect">
            <a:avLst/>
          </a:prstGeom>
          <a:noFill/>
          <a:ln/>
        </p:spPr>
        <p:txBody>
          <a:bodyPr wrap="square" rtlCol="0" anchor="ctr"/>
          <a:lstStyle/>
          <a:p>
            <a:pPr indent="0" marL="0">
              <a:lnSpc>
                <a:spcPct val="128000"/>
              </a:lnSpc>
              <a:buNone/>
            </a:pPr>
            <a:r>
              <a:rPr lang="en-US" sz="1180" dirty="0">
                <a:solidFill>
                  <a:srgbClr val="22283C"/>
                </a:solidFill>
                <a:latin typeface="Yu Gothic" pitchFamily="34" charset="0"/>
                <a:ea typeface="Yu Gothic" pitchFamily="34" charset="-122"/>
                <a:cs typeface="Yu Gothic" pitchFamily="34" charset="-120"/>
              </a:rPr>
              <a:t>開始は自分のボタン押しで、押しても表示枠は動かない。間隔が短いと1番目が「見えなかった」と感じるため、「あとの文字を答えず勘で」と明示。実際の表示時刻も毎回記録する。</a:t>
            </a:r>
            <a:endParaRPr lang="en-US" sz="1180" dirty="0"/>
          </a:p>
        </p:txBody>
      </p:sp>
      <p:sp>
        <p:nvSpPr>
          <p:cNvPr id="24" name="Text 22"/>
          <p:cNvSpPr/>
          <p:nvPr/>
        </p:nvSpPr>
        <p:spPr>
          <a:xfrm>
            <a:off x="548640" y="5943600"/>
            <a:ext cx="11064240" cy="365760"/>
          </a:xfrm>
          <a:prstGeom prst="rect">
            <a:avLst/>
          </a:prstGeom>
          <a:noFill/>
          <a:ln/>
        </p:spPr>
        <p:txBody>
          <a:bodyPr wrap="square"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この課題では小書きかな（っゃゅょ）は使わない。前の字を消す力が弱く、「き＋ゃ」のような並びは1つの音として読まれて位置ごとの回答が壊れるため。</a:t>
            </a:r>
            <a:endParaRPr lang="en-US" sz="1150" dirty="0"/>
          </a:p>
        </p:txBody>
      </p:sp>
      <p:sp>
        <p:nvSpPr>
          <p:cNvPr id="25" name="Text 23"/>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MAIN MEASUREMENT</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frac課題 — 「どこまで届けば分かるか」の曲線を、文字ごとに測る</a:t>
            </a:r>
            <a:endParaRPr lang="en-US" sz="2600" dirty="0"/>
          </a:p>
        </p:txBody>
      </p:sp>
      <p:pic>
        <p:nvPicPr>
          <p:cNvPr id="4" name="Image 0" descr="/Users/kurihara/Library/CloudStorage/GoogleDrive-qurihara@gmail.com/マイドライブ/share/google_desktop_share/iFont/paper/figs/fig_algos.png">    </p:cNvPr>
          <p:cNvPicPr>
            <a:picLocks noChangeAspect="1"/>
          </p:cNvPicPr>
          <p:nvPr/>
        </p:nvPicPr>
        <p:blipFill>
          <a:blip r:embed="rId1"/>
          <a:stretch>
            <a:fillRect/>
          </a:stretch>
        </p:blipFill>
        <p:spPr>
          <a:xfrm>
            <a:off x="640080" y="1691640"/>
            <a:ext cx="6035040" cy="2075688"/>
          </a:xfrm>
          <a:prstGeom prst="rect">
            <a:avLst/>
          </a:prstGeom>
        </p:spPr>
      </p:pic>
      <p:sp>
        <p:nvSpPr>
          <p:cNvPr id="5" name="Text 2"/>
          <p:cNvSpPr/>
          <p:nvPr/>
        </p:nvSpPr>
        <p:spPr>
          <a:xfrm>
            <a:off x="640080" y="3977640"/>
            <a:ext cx="6035040" cy="1737360"/>
          </a:xfrm>
          <a:prstGeom prst="rect">
            <a:avLst/>
          </a:prstGeom>
          <a:noFill/>
          <a:ln/>
        </p:spPr>
        <p:txBody>
          <a:bodyPr wrap="square" rtlCol="0" anchor="ctr"/>
          <a:lstStyle/>
          <a:p>
            <a:pPr indent="0" marL="0">
              <a:lnSpc>
                <a:spcPct val="130000"/>
              </a:lnSpc>
              <a:spcAft>
                <a:spcPts val="800"/>
              </a:spcAft>
              <a:buNone/>
            </a:pPr>
            <a:r>
              <a:rPr lang="en-US" sz="1250" b="1" dirty="0">
                <a:solidFill>
                  <a:srgbClr val="1E2A5E"/>
                </a:solidFill>
                <a:latin typeface="Yu Gothic" pitchFamily="34" charset="0"/>
                <a:ea typeface="Yu Gothic" pitchFamily="34" charset="-122"/>
                <a:cs typeface="Yu Gothic" pitchFamily="34" charset="-120"/>
              </a:rPr>
              <a:t>視覚  </a:t>
            </a:r>
            <a:pPr indent="0" marL="0">
              <a:lnSpc>
                <a:spcPct val="130000"/>
              </a:lnSpc>
              <a:spcAft>
                <a:spcPts val="800"/>
              </a:spcAft>
              <a:buNone/>
            </a:pPr>
            <a:r>
              <a:rPr lang="en-US" sz="1250" dirty="0">
                <a:solidFill>
                  <a:srgbClr val="22283C"/>
                </a:solidFill>
                <a:latin typeface="Yu Gothic" pitchFamily="34" charset="0"/>
                <a:ea typeface="Yu Gothic" pitchFamily="34" charset="-122"/>
                <a:cs typeface="Yu Gothic" pitchFamily="34" charset="-120"/>
              </a:rPr>
              <a:t>文字の鮮明さを0〜100%で段階的に変えて提示する。提示法は実績のある2種（透明度が上がるfade、ぼかしが解けるblur）に絞り、文献と直接比較できるようにする。対象は全字形78字。</a:t>
            </a:r>
            <a:endParaRPr lang="en-US" sz="1250" dirty="0"/>
          </a:p>
          <a:p>
            <a:pPr indent="0" marL="0">
              <a:lnSpc>
                <a:spcPct val="130000"/>
              </a:lnSpc>
              <a:spcAft>
                <a:spcPts val="800"/>
              </a:spcAft>
              <a:buNone/>
            </a:pPr>
            <a:r>
              <a:rPr lang="en-US" sz="1250" b="1" dirty="0">
                <a:solidFill>
                  <a:srgbClr val="2E7D8F"/>
                </a:solidFill>
                <a:latin typeface="Yu Gothic" pitchFamily="34" charset="0"/>
                <a:ea typeface="Yu Gothic" pitchFamily="34" charset="-122"/>
                <a:cs typeface="Yu Gothic" pitchFamily="34" charset="-120"/>
              </a:rPr>
              <a:t>聴覚  </a:t>
            </a:r>
            <a:pPr indent="0" marL="0">
              <a:lnSpc>
                <a:spcPct val="130000"/>
              </a:lnSpc>
              <a:spcAft>
                <a:spcPts val="800"/>
              </a:spcAft>
              <a:buNone/>
            </a:pPr>
            <a:r>
              <a:rPr lang="en-US" sz="1250" dirty="0">
                <a:solidFill>
                  <a:srgbClr val="22283C"/>
                </a:solidFill>
                <a:latin typeface="Yu Gothic" pitchFamily="34" charset="0"/>
                <a:ea typeface="Yu Gothic" pitchFamily="34" charset="-122"/>
                <a:cs typeface="Yu Gothic" pitchFamily="34" charset="-120"/>
              </a:rPr>
              <a:t>音声の先頭から一部だけ（frac%）を聞かせて答えてもらう。対象は聞き分けられる68音。</a:t>
            </a:r>
            <a:endParaRPr lang="en-US" sz="1250" dirty="0"/>
          </a:p>
        </p:txBody>
      </p:sp>
      <p:pic>
        <p:nvPicPr>
          <p:cNvPr id="6" name="Image 1" descr="/Users/kurihara/Library/CloudStorage/GoogleDrive-qurihara@gmail.com/マイドライブ/share/google_desktop_share/iFont/paper/figs/fig_psycho.png">    </p:cNvPr>
          <p:cNvPicPr>
            <a:picLocks noChangeAspect="1"/>
          </p:cNvPicPr>
          <p:nvPr/>
        </p:nvPicPr>
        <p:blipFill>
          <a:blip r:embed="rId2"/>
          <a:stretch>
            <a:fillRect/>
          </a:stretch>
        </p:blipFill>
        <p:spPr>
          <a:xfrm>
            <a:off x="6858000" y="1691640"/>
            <a:ext cx="4800600" cy="2871216"/>
          </a:xfrm>
          <a:prstGeom prst="rect">
            <a:avLst/>
          </a:prstGeom>
        </p:spPr>
      </p:pic>
      <p:sp>
        <p:nvSpPr>
          <p:cNvPr id="7" name="Text 3"/>
          <p:cNvSpPr/>
          <p:nvPr/>
        </p:nvSpPr>
        <p:spPr>
          <a:xfrm>
            <a:off x="6858000" y="4709160"/>
            <a:ext cx="4800600" cy="914400"/>
          </a:xfrm>
          <a:prstGeom prst="rect">
            <a:avLst/>
          </a:prstGeom>
          <a:noFill/>
          <a:ln/>
        </p:spPr>
        <p:txBody>
          <a:bodyPr wrap="square" rtlCol="0" anchor="ctr"/>
          <a:lstStyle/>
          <a:p>
            <a:pPr indent="0" marL="0">
              <a:lnSpc>
                <a:spcPct val="125000"/>
              </a:lnSpc>
              <a:buNone/>
            </a:pPr>
            <a:r>
              <a:rPr lang="en-US" sz="1150" dirty="0">
                <a:solidFill>
                  <a:srgbClr val="4A5160"/>
                </a:solidFill>
                <a:latin typeface="Yu Gothic" pitchFamily="34" charset="0"/>
                <a:ea typeface="Yu Gothic" pitchFamily="34" charset="-122"/>
                <a:cs typeface="Yu Gothic" pitchFamily="34" charset="-120"/>
              </a:rPr>
              <a:t>各文字の認識率カーブ（想定図）。恒常法で測り、文字を変量効果に置いた階層モデルで、データの少ない字も安定して推定する。</a:t>
            </a:r>
            <a:endParaRPr lang="en-US" sz="1150" dirty="0"/>
          </a:p>
        </p:txBody>
      </p:sp>
      <p:sp>
        <p:nvSpPr>
          <p:cNvPr id="8" name="Text 4"/>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9" name="Text 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DELIVERABLES</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得たデータで作るもの</a:t>
            </a:r>
            <a:endParaRPr lang="en-US" sz="2600" dirty="0"/>
          </a:p>
        </p:txBody>
      </p:sp>
      <p:sp>
        <p:nvSpPr>
          <p:cNvPr id="4" name="Shape 2"/>
          <p:cNvSpPr/>
          <p:nvPr/>
        </p:nvSpPr>
        <p:spPr>
          <a:xfrm>
            <a:off x="548640" y="1737360"/>
            <a:ext cx="5394960" cy="1920240"/>
          </a:xfrm>
          <a:prstGeom prst="roundRect">
            <a:avLst>
              <a:gd name="adj" fmla="val 3810"/>
            </a:avLst>
          </a:prstGeom>
          <a:solidFill>
            <a:srgbClr val="F4F6FB"/>
          </a:solidFill>
          <a:ln w="9525">
            <a:solidFill>
              <a:srgbClr val="E3E6EE"/>
            </a:solidFill>
            <a:prstDash val="solid"/>
          </a:ln>
        </p:spPr>
      </p:sp>
      <p:sp>
        <p:nvSpPr>
          <p:cNvPr id="5" name="Shape 3"/>
          <p:cNvSpPr/>
          <p:nvPr/>
        </p:nvSpPr>
        <p:spPr>
          <a:xfrm>
            <a:off x="822960" y="2011680"/>
            <a:ext cx="347472" cy="347472"/>
          </a:xfrm>
          <a:prstGeom prst="ellipse">
            <a:avLst/>
          </a:prstGeom>
          <a:solidFill>
            <a:srgbClr val="1E2A5E"/>
          </a:solidFill>
          <a:ln/>
        </p:spPr>
      </p:sp>
      <p:sp>
        <p:nvSpPr>
          <p:cNvPr id="6" name="Text 4"/>
          <p:cNvSpPr/>
          <p:nvPr/>
        </p:nvSpPr>
        <p:spPr>
          <a:xfrm>
            <a:off x="768096" y="1993392"/>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7" name="Text 5"/>
          <p:cNvSpPr/>
          <p:nvPr/>
        </p:nvSpPr>
        <p:spPr>
          <a:xfrm>
            <a:off x="1325880" y="1938528"/>
            <a:ext cx="4389120" cy="457200"/>
          </a:xfrm>
          <a:prstGeom prst="rect">
            <a:avLst/>
          </a:prstGeom>
          <a:noFill/>
          <a:ln/>
        </p:spPr>
        <p:txBody>
          <a:bodyPr wrap="square" rtlCol="0" anchor="ctr"/>
          <a:lstStyle/>
          <a:p>
            <a:pPr indent="0" marL="0">
              <a:buNone/>
            </a:pPr>
            <a:r>
              <a:rPr lang="en-US" sz="1600" b="1" dirty="0">
                <a:solidFill>
                  <a:srgbClr val="1E2A5E"/>
                </a:solidFill>
                <a:latin typeface="Yu Gothic" pitchFamily="34" charset="0"/>
                <a:ea typeface="Yu Gothic" pitchFamily="34" charset="-122"/>
                <a:cs typeface="Yu Gothic" pitchFamily="34" charset="-120"/>
              </a:rPr>
              <a:t>g曲線のデータ</a:t>
            </a:r>
            <a:endParaRPr lang="en-US" sz="1600" dirty="0"/>
          </a:p>
        </p:txBody>
      </p:sp>
      <p:sp>
        <p:nvSpPr>
          <p:cNvPr id="8" name="Text 6"/>
          <p:cNvSpPr/>
          <p:nvPr/>
        </p:nvSpPr>
        <p:spPr>
          <a:xfrm>
            <a:off x="822960" y="2514600"/>
            <a:ext cx="4846320" cy="105156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68音×78字の認識率曲線と、その対応づけ。日本語のかなが「どれだけ聞き取れるか・見分けられるか」の基礎データとしても公開する。</a:t>
            </a:r>
            <a:endParaRPr lang="en-US" sz="1200" dirty="0"/>
          </a:p>
        </p:txBody>
      </p:sp>
      <p:sp>
        <p:nvSpPr>
          <p:cNvPr id="9" name="Shape 7"/>
          <p:cNvSpPr/>
          <p:nvPr/>
        </p:nvSpPr>
        <p:spPr>
          <a:xfrm>
            <a:off x="6309360" y="1737360"/>
            <a:ext cx="5394960" cy="1920240"/>
          </a:xfrm>
          <a:prstGeom prst="roundRect">
            <a:avLst>
              <a:gd name="adj" fmla="val 3810"/>
            </a:avLst>
          </a:prstGeom>
          <a:solidFill>
            <a:srgbClr val="F4F6FB"/>
          </a:solidFill>
          <a:ln w="9525">
            <a:solidFill>
              <a:srgbClr val="E3E6EE"/>
            </a:solidFill>
            <a:prstDash val="solid"/>
          </a:ln>
        </p:spPr>
      </p:sp>
      <p:sp>
        <p:nvSpPr>
          <p:cNvPr id="10" name="Shape 8"/>
          <p:cNvSpPr/>
          <p:nvPr/>
        </p:nvSpPr>
        <p:spPr>
          <a:xfrm>
            <a:off x="6583680" y="2011680"/>
            <a:ext cx="347472" cy="347472"/>
          </a:xfrm>
          <a:prstGeom prst="ellipse">
            <a:avLst/>
          </a:prstGeom>
          <a:solidFill>
            <a:srgbClr val="2E7D8F"/>
          </a:solidFill>
          <a:ln/>
        </p:spPr>
      </p:sp>
      <p:sp>
        <p:nvSpPr>
          <p:cNvPr id="11" name="Text 9"/>
          <p:cNvSpPr/>
          <p:nvPr/>
        </p:nvSpPr>
        <p:spPr>
          <a:xfrm>
            <a:off x="6528816" y="1993392"/>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2" name="Text 10"/>
          <p:cNvSpPr/>
          <p:nvPr/>
        </p:nvSpPr>
        <p:spPr>
          <a:xfrm>
            <a:off x="7086600" y="1938528"/>
            <a:ext cx="4389120" cy="457200"/>
          </a:xfrm>
          <a:prstGeom prst="rect">
            <a:avLst/>
          </a:prstGeom>
          <a:noFill/>
          <a:ln/>
        </p:spPr>
        <p:txBody>
          <a:bodyPr wrap="square" rtlCol="0" anchor="ctr"/>
          <a:lstStyle/>
          <a:p>
            <a:pPr indent="0" marL="0">
              <a:buNone/>
            </a:pPr>
            <a:r>
              <a:rPr lang="en-US" sz="1600" b="1" dirty="0">
                <a:solidFill>
                  <a:srgbClr val="2E7D8F"/>
                </a:solidFill>
                <a:latin typeface="Yu Gothic" pitchFamily="34" charset="0"/>
                <a:ea typeface="Yu Gothic" pitchFamily="34" charset="-122"/>
                <a:cs typeface="Yu Gothic" pitchFamily="34" charset="-120"/>
              </a:rPr>
              <a:t>レンダリングツール</a:t>
            </a:r>
            <a:endParaRPr lang="en-US" sz="1600" dirty="0"/>
          </a:p>
        </p:txBody>
      </p:sp>
      <p:sp>
        <p:nvSpPr>
          <p:cNvPr id="13" name="Text 11"/>
          <p:cNvSpPr/>
          <p:nvPr/>
        </p:nvSpPr>
        <p:spPr>
          <a:xfrm>
            <a:off x="6583680" y="2514600"/>
            <a:ext cx="4846320" cy="105156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かな漢字まじり文を入れると、音声と同期した「かな列」動画を出す。コマンドラインとMCPサーバで提供し、音高は1文字ごとに設計できる。ふりがなで読みを上書きできる。</a:t>
            </a:r>
            <a:endParaRPr lang="en-US" sz="1200" dirty="0"/>
          </a:p>
        </p:txBody>
      </p:sp>
      <p:sp>
        <p:nvSpPr>
          <p:cNvPr id="14" name="Shape 12"/>
          <p:cNvSpPr/>
          <p:nvPr/>
        </p:nvSpPr>
        <p:spPr>
          <a:xfrm>
            <a:off x="548640" y="3886200"/>
            <a:ext cx="5394960" cy="1920240"/>
          </a:xfrm>
          <a:prstGeom prst="roundRect">
            <a:avLst>
              <a:gd name="adj" fmla="val 3810"/>
            </a:avLst>
          </a:prstGeom>
          <a:solidFill>
            <a:srgbClr val="F4F6FB"/>
          </a:solidFill>
          <a:ln w="9525">
            <a:solidFill>
              <a:srgbClr val="E3E6EE"/>
            </a:solidFill>
            <a:prstDash val="solid"/>
          </a:ln>
        </p:spPr>
      </p:sp>
      <p:sp>
        <p:nvSpPr>
          <p:cNvPr id="15" name="Shape 13"/>
          <p:cNvSpPr/>
          <p:nvPr/>
        </p:nvSpPr>
        <p:spPr>
          <a:xfrm>
            <a:off x="822960" y="4160520"/>
            <a:ext cx="347472" cy="347472"/>
          </a:xfrm>
          <a:prstGeom prst="ellipse">
            <a:avLst/>
          </a:prstGeom>
          <a:solidFill>
            <a:srgbClr val="C8A44D"/>
          </a:solidFill>
          <a:ln/>
        </p:spPr>
      </p:sp>
      <p:sp>
        <p:nvSpPr>
          <p:cNvPr id="16" name="Text 14"/>
          <p:cNvSpPr/>
          <p:nvPr/>
        </p:nvSpPr>
        <p:spPr>
          <a:xfrm>
            <a:off x="768096" y="4142232"/>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17" name="Text 15"/>
          <p:cNvSpPr/>
          <p:nvPr/>
        </p:nvSpPr>
        <p:spPr>
          <a:xfrm>
            <a:off x="1325880" y="4087368"/>
            <a:ext cx="4389120" cy="457200"/>
          </a:xfrm>
          <a:prstGeom prst="rect">
            <a:avLst/>
          </a:prstGeom>
          <a:noFill/>
          <a:ln/>
        </p:spPr>
        <p:txBody>
          <a:bodyPr wrap="square" rtlCol="0" anchor="ctr"/>
          <a:lstStyle/>
          <a:p>
            <a:pPr indent="0" marL="0">
              <a:buNone/>
            </a:pPr>
            <a:r>
              <a:rPr lang="en-US" sz="1600" b="1" dirty="0">
                <a:solidFill>
                  <a:srgbClr val="C8A44D"/>
                </a:solidFill>
                <a:latin typeface="Yu Gothic" pitchFamily="34" charset="0"/>
                <a:ea typeface="Yu Gothic" pitchFamily="34" charset="-122"/>
                <a:cs typeface="Yu Gothic" pitchFamily="34" charset="-120"/>
              </a:rPr>
              <a:t>百人一首パック</a:t>
            </a:r>
            <a:endParaRPr lang="en-US" sz="1600" dirty="0"/>
          </a:p>
        </p:txBody>
      </p:sp>
      <p:sp>
        <p:nvSpPr>
          <p:cNvPr id="18" name="Text 16"/>
          <p:cNvSpPr/>
          <p:nvPr/>
        </p:nvSpPr>
        <p:spPr>
          <a:xfrm>
            <a:off x="822960" y="4663440"/>
            <a:ext cx="4846320" cy="105156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100首ぶんを、人手で検証した読み対応表からあらかじめレンダリングして別配布する。競技かるたの現場でそのまま使える形。</a:t>
            </a:r>
            <a:endParaRPr lang="en-US" sz="1200" dirty="0"/>
          </a:p>
        </p:txBody>
      </p:sp>
      <p:sp>
        <p:nvSpPr>
          <p:cNvPr id="19" name="Shape 17"/>
          <p:cNvSpPr/>
          <p:nvPr/>
        </p:nvSpPr>
        <p:spPr>
          <a:xfrm>
            <a:off x="6309360" y="3886200"/>
            <a:ext cx="5394960" cy="1920240"/>
          </a:xfrm>
          <a:prstGeom prst="roundRect">
            <a:avLst>
              <a:gd name="adj" fmla="val 3810"/>
            </a:avLst>
          </a:prstGeom>
          <a:solidFill>
            <a:srgbClr val="F4F6FB"/>
          </a:solidFill>
          <a:ln w="9525">
            <a:solidFill>
              <a:srgbClr val="E3E6EE"/>
            </a:solidFill>
            <a:prstDash val="solid"/>
          </a:ln>
        </p:spPr>
      </p:sp>
      <p:sp>
        <p:nvSpPr>
          <p:cNvPr id="20" name="Shape 18"/>
          <p:cNvSpPr/>
          <p:nvPr/>
        </p:nvSpPr>
        <p:spPr>
          <a:xfrm>
            <a:off x="6583680" y="4160520"/>
            <a:ext cx="347472" cy="347472"/>
          </a:xfrm>
          <a:prstGeom prst="ellipse">
            <a:avLst/>
          </a:prstGeom>
          <a:solidFill>
            <a:srgbClr val="C25B4E"/>
          </a:solidFill>
          <a:ln/>
        </p:spPr>
      </p:sp>
      <p:sp>
        <p:nvSpPr>
          <p:cNvPr id="21" name="Text 19"/>
          <p:cNvSpPr/>
          <p:nvPr/>
        </p:nvSpPr>
        <p:spPr>
          <a:xfrm>
            <a:off x="6528816" y="4142232"/>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22" name="Text 20"/>
          <p:cNvSpPr/>
          <p:nvPr/>
        </p:nvSpPr>
        <p:spPr>
          <a:xfrm>
            <a:off x="7086600" y="4087368"/>
            <a:ext cx="4389120" cy="457200"/>
          </a:xfrm>
          <a:prstGeom prst="rect">
            <a:avLst/>
          </a:prstGeom>
          <a:noFill/>
          <a:ln/>
        </p:spPr>
        <p:txBody>
          <a:bodyPr wrap="square" rtlCol="0" anchor="ctr"/>
          <a:lstStyle/>
          <a:p>
            <a:pPr indent="0" marL="0">
              <a:buNone/>
            </a:pPr>
            <a:r>
              <a:rPr lang="en-US" sz="1600" b="1" dirty="0">
                <a:solidFill>
                  <a:srgbClr val="C25B4E"/>
                </a:solidFill>
                <a:latin typeface="Yu Gothic" pitchFamily="34" charset="0"/>
                <a:ea typeface="Yu Gothic" pitchFamily="34" charset="-122"/>
                <a:cs typeface="Yu Gothic" pitchFamily="34" charset="-120"/>
              </a:rPr>
              <a:t>検証と論文</a:t>
            </a:r>
            <a:endParaRPr lang="en-US" sz="1600" dirty="0"/>
          </a:p>
        </p:txBody>
      </p:sp>
      <p:sp>
        <p:nvSpPr>
          <p:cNvPr id="23" name="Text 21"/>
          <p:cNvSpPr/>
          <p:nvPr/>
        </p:nvSpPr>
        <p:spPr>
          <a:xfrm>
            <a:off x="6583680" y="4663440"/>
            <a:ext cx="4846320" cy="105156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gから合成した「字幕でどの札か分かる曲線」が、実測の音声版と一致するかを検証し、論文にまとめる（現在は想定結果版を執筆済み）。</a:t>
            </a:r>
            <a:endParaRPr lang="en-US" sz="1200" dirty="0"/>
          </a:p>
        </p:txBody>
      </p:sp>
      <p:sp>
        <p:nvSpPr>
          <p:cNvPr id="24" name="Text 22"/>
          <p:cNvSpPr/>
          <p:nvPr/>
        </p:nvSpPr>
        <p:spPr>
          <a:xfrm>
            <a:off x="548640" y="5989320"/>
            <a:ext cx="11064240" cy="457200"/>
          </a:xfrm>
          <a:prstGeom prst="rect">
            <a:avLst/>
          </a:prstGeom>
          <a:noFill/>
          <a:ln/>
        </p:spPr>
        <p:txBody>
          <a:bodyPr wrap="square"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新規の提示法（全字の重畳から絞り込むmoya、字から字へ変形するモーフィング）は実装とデモを公開し、評価は今後の課題とする。</a:t>
            </a:r>
            <a:endParaRPr lang="en-US" sz="1150" dirty="0"/>
          </a:p>
        </p:txBody>
      </p:sp>
      <p:sp>
        <p:nvSpPr>
          <p:cNvPr id="25" name="Text 23"/>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PILOT STATUS</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パイロットの現状 — v1.7。PIの実地試行で設計を11回磨いた</a:t>
            </a:r>
            <a:endParaRPr lang="en-US" sz="2600" dirty="0"/>
          </a:p>
        </p:txBody>
      </p:sp>
      <p:sp>
        <p:nvSpPr>
          <p:cNvPr id="4" name="Shape 2"/>
          <p:cNvSpPr/>
          <p:nvPr/>
        </p:nvSpPr>
        <p:spPr>
          <a:xfrm>
            <a:off x="548640" y="1691640"/>
            <a:ext cx="2651760" cy="1463040"/>
          </a:xfrm>
          <a:prstGeom prst="roundRect">
            <a:avLst>
              <a:gd name="adj" fmla="val 5000"/>
            </a:avLst>
          </a:prstGeom>
          <a:solidFill>
            <a:srgbClr val="F4F6FB"/>
          </a:solidFill>
          <a:ln w="9525">
            <a:solidFill>
              <a:srgbClr val="E3E6EE"/>
            </a:solidFill>
            <a:prstDash val="solid"/>
          </a:ln>
        </p:spPr>
      </p:sp>
      <p:sp>
        <p:nvSpPr>
          <p:cNvPr id="5" name="Text 3"/>
          <p:cNvSpPr/>
          <p:nvPr/>
        </p:nvSpPr>
        <p:spPr>
          <a:xfrm>
            <a:off x="548640" y="1828800"/>
            <a:ext cx="2651760" cy="640080"/>
          </a:xfrm>
          <a:prstGeom prst="rect">
            <a:avLst/>
          </a:prstGeom>
          <a:noFill/>
          <a:ln/>
        </p:spPr>
        <p:txBody>
          <a:bodyPr wrap="square" rtlCol="0" anchor="ctr"/>
          <a:lstStyle/>
          <a:p>
            <a:pPr algn="ctr" indent="0" marL="0">
              <a:buNone/>
            </a:pPr>
            <a:r>
              <a:rPr lang="en-US" sz="2600" b="1" dirty="0">
                <a:solidFill>
                  <a:srgbClr val="1E2A5E"/>
                </a:solidFill>
                <a:latin typeface="Yu Gothic" pitchFamily="34" charset="0"/>
                <a:ea typeface="Yu Gothic" pitchFamily="34" charset="-122"/>
                <a:cs typeface="Yu Gothic" pitchFamily="34" charset="-120"/>
              </a:rPr>
              <a:t>v1.7</a:t>
            </a:r>
            <a:endParaRPr lang="en-US" sz="2600" dirty="0"/>
          </a:p>
        </p:txBody>
      </p:sp>
      <p:sp>
        <p:nvSpPr>
          <p:cNvPr id="6" name="Text 4"/>
          <p:cNvSpPr/>
          <p:nvPr/>
        </p:nvSpPr>
        <p:spPr>
          <a:xfrm>
            <a:off x="685800" y="2514600"/>
            <a:ext cx="2377440" cy="548640"/>
          </a:xfrm>
          <a:prstGeom prst="rect">
            <a:avLst/>
          </a:prstGeom>
          <a:noFill/>
          <a:ln/>
        </p:spPr>
        <p:txBody>
          <a:bodyPr wrap="square" rtlCol="0" anchor="ctr"/>
          <a:lstStyle/>
          <a:p>
            <a:pPr algn="ctr" indent="0" marL="0">
              <a:buNone/>
            </a:pPr>
            <a:r>
              <a:rPr lang="en-US" sz="1050" dirty="0">
                <a:solidFill>
                  <a:srgbClr val="6B7280"/>
                </a:solidFill>
                <a:latin typeface="Yu Gothic" pitchFamily="34" charset="0"/>
                <a:ea typeface="Yu Gothic" pitchFamily="34" charset="-122"/>
                <a:cs typeface="Yu Gothic" pitchFamily="34" charset="-120"/>
              </a:rPr>
              <a:t>現在の版。全版をgitタグで保存</a:t>
            </a:r>
            <a:endParaRPr lang="en-US" sz="1050" dirty="0"/>
          </a:p>
        </p:txBody>
      </p:sp>
      <p:sp>
        <p:nvSpPr>
          <p:cNvPr id="7" name="Shape 5"/>
          <p:cNvSpPr/>
          <p:nvPr/>
        </p:nvSpPr>
        <p:spPr>
          <a:xfrm>
            <a:off x="3474720" y="1691640"/>
            <a:ext cx="2651760" cy="1463040"/>
          </a:xfrm>
          <a:prstGeom prst="roundRect">
            <a:avLst>
              <a:gd name="adj" fmla="val 5000"/>
            </a:avLst>
          </a:prstGeom>
          <a:solidFill>
            <a:srgbClr val="F4F6FB"/>
          </a:solidFill>
          <a:ln w="9525">
            <a:solidFill>
              <a:srgbClr val="E3E6EE"/>
            </a:solidFill>
            <a:prstDash val="solid"/>
          </a:ln>
        </p:spPr>
      </p:sp>
      <p:sp>
        <p:nvSpPr>
          <p:cNvPr id="8" name="Text 6"/>
          <p:cNvSpPr/>
          <p:nvPr/>
        </p:nvSpPr>
        <p:spPr>
          <a:xfrm>
            <a:off x="3474720" y="1828800"/>
            <a:ext cx="2651760" cy="640080"/>
          </a:xfrm>
          <a:prstGeom prst="rect">
            <a:avLst/>
          </a:prstGeom>
          <a:noFill/>
          <a:ln/>
        </p:spPr>
        <p:txBody>
          <a:bodyPr wrap="square" rtlCol="0" anchor="ctr"/>
          <a:lstStyle/>
          <a:p>
            <a:pPr algn="ctr" indent="0" marL="0">
              <a:buNone/>
            </a:pPr>
            <a:r>
              <a:rPr lang="en-US" sz="2600" b="1" dirty="0">
                <a:solidFill>
                  <a:srgbClr val="2E7D8F"/>
                </a:solidFill>
                <a:latin typeface="Yu Gothic" pitchFamily="34" charset="0"/>
                <a:ea typeface="Yu Gothic" pitchFamily="34" charset="-122"/>
                <a:cs typeface="Yu Gothic" pitchFamily="34" charset="-120"/>
              </a:rPr>
              <a:t>3本</a:t>
            </a:r>
            <a:endParaRPr lang="en-US" sz="2600" dirty="0"/>
          </a:p>
        </p:txBody>
      </p:sp>
      <p:sp>
        <p:nvSpPr>
          <p:cNvPr id="9" name="Text 7"/>
          <p:cNvSpPr/>
          <p:nvPr/>
        </p:nvSpPr>
        <p:spPr>
          <a:xfrm>
            <a:off x="3611880" y="2514600"/>
            <a:ext cx="2377440" cy="548640"/>
          </a:xfrm>
          <a:prstGeom prst="rect">
            <a:avLst/>
          </a:prstGeom>
          <a:noFill/>
          <a:ln/>
        </p:spPr>
        <p:txBody>
          <a:bodyPr wrap="square" rtlCol="0" anchor="ctr"/>
          <a:lstStyle/>
          <a:p>
            <a:pPr algn="ctr" indent="0" marL="0">
              <a:buNone/>
            </a:pPr>
            <a:r>
              <a:rPr lang="en-US" sz="1050" dirty="0">
                <a:solidFill>
                  <a:srgbClr val="6B7280"/>
                </a:solidFill>
                <a:latin typeface="Yu Gothic" pitchFamily="34" charset="0"/>
                <a:ea typeface="Yu Gothic" pitchFamily="34" charset="-122"/>
                <a:cs typeface="Yu Gothic" pitchFamily="34" charset="-120"/>
              </a:rPr>
              <a:t>公開中のパイロット（視覚乙・聴覚乙・参照用の甲）</a:t>
            </a:r>
            <a:endParaRPr lang="en-US" sz="1050" dirty="0"/>
          </a:p>
        </p:txBody>
      </p:sp>
      <p:sp>
        <p:nvSpPr>
          <p:cNvPr id="10" name="Shape 8"/>
          <p:cNvSpPr/>
          <p:nvPr/>
        </p:nvSpPr>
        <p:spPr>
          <a:xfrm>
            <a:off x="6400800" y="1691640"/>
            <a:ext cx="2651760" cy="1463040"/>
          </a:xfrm>
          <a:prstGeom prst="roundRect">
            <a:avLst>
              <a:gd name="adj" fmla="val 5000"/>
            </a:avLst>
          </a:prstGeom>
          <a:solidFill>
            <a:srgbClr val="F4F6FB"/>
          </a:solidFill>
          <a:ln w="9525">
            <a:solidFill>
              <a:srgbClr val="E3E6EE"/>
            </a:solidFill>
            <a:prstDash val="solid"/>
          </a:ln>
        </p:spPr>
      </p:sp>
      <p:sp>
        <p:nvSpPr>
          <p:cNvPr id="11" name="Text 9"/>
          <p:cNvSpPr/>
          <p:nvPr/>
        </p:nvSpPr>
        <p:spPr>
          <a:xfrm>
            <a:off x="6400800" y="1828800"/>
            <a:ext cx="2651760" cy="640080"/>
          </a:xfrm>
          <a:prstGeom prst="rect">
            <a:avLst/>
          </a:prstGeom>
          <a:noFill/>
          <a:ln/>
        </p:spPr>
        <p:txBody>
          <a:bodyPr wrap="square" rtlCol="0" anchor="ctr"/>
          <a:lstStyle/>
          <a:p>
            <a:pPr algn="ctr" indent="0" marL="0">
              <a:buNone/>
            </a:pPr>
            <a:r>
              <a:rPr lang="en-US" sz="2600" b="1" dirty="0">
                <a:solidFill>
                  <a:srgbClr val="C8A44D"/>
                </a:solidFill>
                <a:latin typeface="Yu Gothic" pitchFamily="34" charset="0"/>
                <a:ea typeface="Yu Gothic" pitchFamily="34" charset="-122"/>
                <a:cs typeface="Yu Gothic" pitchFamily="34" charset="-120"/>
              </a:rPr>
              <a:t>8〜12分</a:t>
            </a:r>
            <a:endParaRPr lang="en-US" sz="2600" dirty="0"/>
          </a:p>
        </p:txBody>
      </p:sp>
      <p:sp>
        <p:nvSpPr>
          <p:cNvPr id="12" name="Text 10"/>
          <p:cNvSpPr/>
          <p:nvPr/>
        </p:nvSpPr>
        <p:spPr>
          <a:xfrm>
            <a:off x="6537960" y="2514600"/>
            <a:ext cx="2377440" cy="548640"/>
          </a:xfrm>
          <a:prstGeom prst="rect">
            <a:avLst/>
          </a:prstGeom>
          <a:noFill/>
          <a:ln/>
        </p:spPr>
        <p:txBody>
          <a:bodyPr wrap="square" rtlCol="0" anchor="ctr"/>
          <a:lstStyle/>
          <a:p>
            <a:pPr algn="ctr" indent="0" marL="0">
              <a:buNone/>
            </a:pPr>
            <a:r>
              <a:rPr lang="en-US" sz="1050" dirty="0">
                <a:solidFill>
                  <a:srgbClr val="6B7280"/>
                </a:solidFill>
                <a:latin typeface="Yu Gothic" pitchFamily="34" charset="0"/>
                <a:ea typeface="Yu Gothic" pitchFamily="34" charset="-122"/>
                <a:cs typeface="Yu Gothic" pitchFamily="34" charset="-120"/>
              </a:rPr>
              <a:t>1本の所要時間（短縮設定あり）</a:t>
            </a:r>
            <a:endParaRPr lang="en-US" sz="1050" dirty="0"/>
          </a:p>
        </p:txBody>
      </p:sp>
      <p:sp>
        <p:nvSpPr>
          <p:cNvPr id="13" name="Shape 11"/>
          <p:cNvSpPr/>
          <p:nvPr/>
        </p:nvSpPr>
        <p:spPr>
          <a:xfrm>
            <a:off x="9326880" y="1691640"/>
            <a:ext cx="2651760" cy="1463040"/>
          </a:xfrm>
          <a:prstGeom prst="roundRect">
            <a:avLst>
              <a:gd name="adj" fmla="val 5000"/>
            </a:avLst>
          </a:prstGeom>
          <a:solidFill>
            <a:srgbClr val="F4F6FB"/>
          </a:solidFill>
          <a:ln w="9525">
            <a:solidFill>
              <a:srgbClr val="E3E6EE"/>
            </a:solidFill>
            <a:prstDash val="solid"/>
          </a:ln>
        </p:spPr>
      </p:sp>
      <p:sp>
        <p:nvSpPr>
          <p:cNvPr id="14" name="Text 12"/>
          <p:cNvSpPr/>
          <p:nvPr/>
        </p:nvSpPr>
        <p:spPr>
          <a:xfrm>
            <a:off x="9326880" y="1828800"/>
            <a:ext cx="2651760" cy="640080"/>
          </a:xfrm>
          <a:prstGeom prst="rect">
            <a:avLst/>
          </a:prstGeom>
          <a:noFill/>
          <a:ln/>
        </p:spPr>
        <p:txBody>
          <a:bodyPr wrap="square" rtlCol="0" anchor="ctr"/>
          <a:lstStyle/>
          <a:p>
            <a:pPr algn="ctr" indent="0" marL="0">
              <a:buNone/>
            </a:pPr>
            <a:r>
              <a:rPr lang="en-US" sz="2600" b="1" dirty="0">
                <a:solidFill>
                  <a:srgbClr val="C25B4E"/>
                </a:solidFill>
                <a:latin typeface="Yu Gothic" pitchFamily="34" charset="0"/>
                <a:ea typeface="Yu Gothic" pitchFamily="34" charset="-122"/>
                <a:cs typeface="Yu Gothic" pitchFamily="34" charset="-120"/>
              </a:rPr>
              <a:t>10万円</a:t>
            </a:r>
            <a:endParaRPr lang="en-US" sz="2600" dirty="0"/>
          </a:p>
        </p:txBody>
      </p:sp>
      <p:sp>
        <p:nvSpPr>
          <p:cNvPr id="15" name="Text 13"/>
          <p:cNvSpPr/>
          <p:nvPr/>
        </p:nvSpPr>
        <p:spPr>
          <a:xfrm>
            <a:off x="9464040" y="2514600"/>
            <a:ext cx="2377440" cy="548640"/>
          </a:xfrm>
          <a:prstGeom prst="rect">
            <a:avLst/>
          </a:prstGeom>
          <a:noFill/>
          <a:ln/>
        </p:spPr>
        <p:txBody>
          <a:bodyPr wrap="square" rtlCol="0" anchor="ctr"/>
          <a:lstStyle/>
          <a:p>
            <a:pPr algn="ctr" indent="0" marL="0">
              <a:buNone/>
            </a:pPr>
            <a:r>
              <a:rPr lang="en-US" sz="1050" dirty="0">
                <a:solidFill>
                  <a:srgbClr val="6B7280"/>
                </a:solidFill>
                <a:latin typeface="Yu Gothic" pitchFamily="34" charset="0"/>
                <a:ea typeface="Yu Gothic" pitchFamily="34" charset="-122"/>
                <a:cs typeface="Yu Gothic" pitchFamily="34" charset="-120"/>
              </a:rPr>
              <a:t>本実験の費用上限（変わらず）</a:t>
            </a:r>
            <a:endParaRPr lang="en-US" sz="1050" dirty="0"/>
          </a:p>
        </p:txBody>
      </p:sp>
      <p:sp>
        <p:nvSpPr>
          <p:cNvPr id="16" name="Text 14"/>
          <p:cNvSpPr/>
          <p:nvPr/>
        </p:nvSpPr>
        <p:spPr>
          <a:xfrm>
            <a:off x="640080" y="3520440"/>
            <a:ext cx="10058400" cy="365760"/>
          </a:xfrm>
          <a:prstGeom prst="rect">
            <a:avLst/>
          </a:prstGeom>
          <a:noFill/>
          <a:ln/>
        </p:spPr>
        <p:txBody>
          <a:bodyPr wrap="square" rtlCol="0" anchor="ctr"/>
          <a:lstStyle/>
          <a:p>
            <a:pPr indent="0" marL="0">
              <a:buNone/>
            </a:pPr>
            <a:r>
              <a:rPr lang="en-US" sz="1400" b="1" dirty="0">
                <a:solidFill>
                  <a:srgbClr val="1E2A5E"/>
                </a:solidFill>
                <a:latin typeface="Yu Gothic" pitchFamily="34" charset="0"/>
                <a:ea typeface="Yu Gothic" pitchFamily="34" charset="-122"/>
                <a:cs typeface="Yu Gothic" pitchFamily="34" charset="-120"/>
              </a:rPr>
              <a:t>PI（競技かるた経験者）の実地試行から得た学び</a:t>
            </a:r>
            <a:endParaRPr lang="en-US" sz="1400" dirty="0"/>
          </a:p>
        </p:txBody>
      </p:sp>
      <p:sp>
        <p:nvSpPr>
          <p:cNvPr id="17" name="Text 15"/>
          <p:cNvSpPr/>
          <p:nvPr/>
        </p:nvSpPr>
        <p:spPr>
          <a:xfrm>
            <a:off x="640080" y="3931920"/>
            <a:ext cx="10881360" cy="2194560"/>
          </a:xfrm>
          <a:prstGeom prst="rect">
            <a:avLst/>
          </a:prstGeom>
          <a:noFill/>
          <a:ln/>
        </p:spPr>
        <p:txBody>
          <a:bodyPr wrap="square" rtlCol="0" anchor="ctr"/>
          <a:lstStyle/>
          <a:p>
            <a:pPr marL="342900" indent="-342900">
              <a:lnSpc>
                <a:spcPct val="125000"/>
              </a:lnSpc>
              <a:spcAft>
                <a:spcPts val="900"/>
              </a:spcAft>
              <a:buSzPct val="100000"/>
              <a:buChar char="•"/>
            </a:pPr>
            <a:r>
              <a:rPr lang="en-US" sz="1300" dirty="0">
                <a:solidFill>
                  <a:srgbClr val="22283C"/>
                </a:solidFill>
                <a:latin typeface="Yu Gothic" pitchFamily="34" charset="0"/>
                <a:ea typeface="Yu Gothic" pitchFamily="34" charset="-122"/>
                <a:cs typeface="Yu Gothic" pitchFamily="34" charset="-120"/>
              </a:rPr>
              <a:t>鮮明な1文字は33msでほぼ完全に読める（17msで50%）。かるた規定の0.2秒は、鮮明な文字にとっては余裕が大きい</a:t>
            </a:r>
            <a:endParaRPr lang="en-US" sz="1300" dirty="0"/>
          </a:p>
          <a:p>
            <a:pPr marL="342900" indent="-342900">
              <a:lnSpc>
                <a:spcPct val="125000"/>
              </a:lnSpc>
              <a:spcAft>
                <a:spcPts val="900"/>
              </a:spcAft>
              <a:buSzPct val="100000"/>
              <a:buChar char="•"/>
            </a:pPr>
            <a:r>
              <a:rPr lang="en-US" sz="1300" dirty="0">
                <a:solidFill>
                  <a:srgbClr val="22283C"/>
                </a:solidFill>
                <a:latin typeface="Yu Gothic" pitchFamily="34" charset="0"/>
                <a:ea typeface="Yu Gothic" pitchFamily="34" charset="-122"/>
                <a:cs typeface="Yu Gothic" pitchFamily="34" charset="-120"/>
              </a:rPr>
              <a:t>ごく短い提示で最後まで取れないのは濁点・半濁点（ぎ→き、ぷ→ぶ等）。濁点のある字は長め・鮮明めに出す必要があるかもしれない</a:t>
            </a:r>
            <a:endParaRPr lang="en-US" sz="1300" dirty="0"/>
          </a:p>
          <a:p>
            <a:pPr marL="342900" indent="-342900">
              <a:lnSpc>
                <a:spcPct val="125000"/>
              </a:lnSpc>
              <a:spcAft>
                <a:spcPts val="900"/>
              </a:spcAft>
              <a:buSzPct val="100000"/>
              <a:buChar char="•"/>
            </a:pPr>
            <a:r>
              <a:rPr lang="en-US" sz="1300" dirty="0">
                <a:solidFill>
                  <a:srgbClr val="22283C"/>
                </a:solidFill>
                <a:latin typeface="Yu Gothic" pitchFamily="34" charset="0"/>
                <a:ea typeface="Yu Gothic" pitchFamily="34" charset="-122"/>
                <a:cs typeface="Yu Gothic" pitchFamily="34" charset="-120"/>
              </a:rPr>
              <a:t>3文字連続でも、100ms間隔で1番目をほぼ正しく読めた（速い観察者の場合）。一般の協力者でどうかを本実験で測る</a:t>
            </a:r>
            <a:endParaRPr lang="en-US" sz="1300" dirty="0"/>
          </a:p>
          <a:p>
            <a:pPr marL="342900" indent="-342900">
              <a:lnSpc>
                <a:spcPct val="125000"/>
              </a:lnSpc>
              <a:spcAft>
                <a:spcPts val="900"/>
              </a:spcAft>
              <a:buSzPct val="100000"/>
              <a:buChar char="•"/>
            </a:pPr>
            <a:r>
              <a:rPr lang="en-US" sz="1300" dirty="0">
                <a:solidFill>
                  <a:srgbClr val="22283C"/>
                </a:solidFill>
                <a:latin typeface="Yu Gothic" pitchFamily="34" charset="0"/>
                <a:ea typeface="Yu Gothic" pitchFamily="34" charset="-122"/>
                <a:cs typeface="Yu Gothic" pitchFamily="34" charset="-120"/>
              </a:rPr>
              <a:t>教示の言い回し・開始方法（ボタン押し）・マスクの設計・文字セットなど、11回の改訂をすべて実地の気づきから行った</a:t>
            </a:r>
            <a:endParaRPr lang="en-US" sz="1300" dirty="0"/>
          </a:p>
        </p:txBody>
      </p:sp>
      <p:sp>
        <p:nvSpPr>
          <p:cNvPr id="18" name="Text 16"/>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19" name="Text 1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MEASUREMENT POLICY</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測定を信頼できるものにするための方針</a:t>
            </a:r>
            <a:endParaRPr lang="en-US" sz="2600" dirty="0"/>
          </a:p>
        </p:txBody>
      </p:sp>
      <p:sp>
        <p:nvSpPr>
          <p:cNvPr id="4" name="Shape 2"/>
          <p:cNvSpPr/>
          <p:nvPr/>
        </p:nvSpPr>
        <p:spPr>
          <a:xfrm>
            <a:off x="548640" y="1737360"/>
            <a:ext cx="5394960" cy="1920240"/>
          </a:xfrm>
          <a:prstGeom prst="roundRect">
            <a:avLst>
              <a:gd name="adj" fmla="val 3810"/>
            </a:avLst>
          </a:prstGeom>
          <a:solidFill>
            <a:srgbClr val="F4F6FB"/>
          </a:solidFill>
          <a:ln w="9525">
            <a:solidFill>
              <a:srgbClr val="E3E6EE"/>
            </a:solidFill>
            <a:prstDash val="solid"/>
          </a:ln>
        </p:spPr>
      </p:sp>
      <p:sp>
        <p:nvSpPr>
          <p:cNvPr id="5" name="Text 3"/>
          <p:cNvSpPr/>
          <p:nvPr/>
        </p:nvSpPr>
        <p:spPr>
          <a:xfrm>
            <a:off x="822960" y="1920240"/>
            <a:ext cx="4846320" cy="457200"/>
          </a:xfrm>
          <a:prstGeom prst="rect">
            <a:avLst/>
          </a:prstGeom>
          <a:noFill/>
          <a:ln/>
        </p:spPr>
        <p:txBody>
          <a:bodyPr wrap="square"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音高は一定にして測る</a:t>
            </a:r>
            <a:endParaRPr lang="en-US" sz="1500" dirty="0"/>
          </a:p>
        </p:txBody>
      </p:sp>
      <p:sp>
        <p:nvSpPr>
          <p:cNvPr id="6" name="Text 4"/>
          <p:cNvSpPr/>
          <p:nvPr/>
        </p:nvSpPr>
        <p:spPr>
          <a:xfrm>
            <a:off x="822960" y="2423160"/>
            <a:ext cx="4846320" cy="114300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音素の聞き取りは声の高さに頑健という知見に基づき、実験は単一の音高で統制する。実用では音高を自由に設計してよく、ツールは1文字ごとの指定に対応する。</a:t>
            </a:r>
            <a:endParaRPr lang="en-US" sz="1200" dirty="0"/>
          </a:p>
        </p:txBody>
      </p:sp>
      <p:sp>
        <p:nvSpPr>
          <p:cNvPr id="7" name="Shape 5"/>
          <p:cNvSpPr/>
          <p:nvPr/>
        </p:nvSpPr>
        <p:spPr>
          <a:xfrm>
            <a:off x="6309360" y="1737360"/>
            <a:ext cx="5394960" cy="1920240"/>
          </a:xfrm>
          <a:prstGeom prst="roundRect">
            <a:avLst>
              <a:gd name="adj" fmla="val 3810"/>
            </a:avLst>
          </a:prstGeom>
          <a:solidFill>
            <a:srgbClr val="F4F6FB"/>
          </a:solidFill>
          <a:ln w="9525">
            <a:solidFill>
              <a:srgbClr val="E3E6EE"/>
            </a:solidFill>
            <a:prstDash val="solid"/>
          </a:ln>
        </p:spPr>
      </p:sp>
      <p:sp>
        <p:nvSpPr>
          <p:cNvPr id="8" name="Text 6"/>
          <p:cNvSpPr/>
          <p:nvPr/>
        </p:nvSpPr>
        <p:spPr>
          <a:xfrm>
            <a:off x="6583680" y="1920240"/>
            <a:ext cx="4846320" cy="457200"/>
          </a:xfrm>
          <a:prstGeom prst="rect">
            <a:avLst/>
          </a:prstGeom>
          <a:noFill/>
          <a:ln/>
        </p:spPr>
        <p:txBody>
          <a:bodyPr wrap="square" rtlCol="0" anchor="ctr"/>
          <a:lstStyle/>
          <a:p>
            <a:pPr indent="0" marL="0">
              <a:buNone/>
            </a:pPr>
            <a:r>
              <a:rPr lang="en-US" sz="1500" b="1" dirty="0">
                <a:solidFill>
                  <a:srgbClr val="2E7D8F"/>
                </a:solidFill>
                <a:latin typeface="Yu Gothic" pitchFamily="34" charset="0"/>
                <a:ea typeface="Yu Gothic" pitchFamily="34" charset="-122"/>
                <a:cs typeface="Yu Gothic" pitchFamily="34" charset="-120"/>
              </a:rPr>
              <a:t>自分のペースで開始</a:t>
            </a:r>
            <a:endParaRPr lang="en-US" sz="1500" dirty="0"/>
          </a:p>
        </p:txBody>
      </p:sp>
      <p:sp>
        <p:nvSpPr>
          <p:cNvPr id="9" name="Text 7"/>
          <p:cNvSpPr/>
          <p:nvPr/>
        </p:nvSpPr>
        <p:spPr>
          <a:xfrm>
            <a:off x="6583680" y="2423160"/>
            <a:ext cx="4846320" cy="114300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各問題は参加者がボタンを押して始める。押しても表示枠は動かず、カーソルが刺激に重ならない。開始後の提示タイミングにはゆらぎを入れて先読みを防ぐ。</a:t>
            </a:r>
            <a:endParaRPr lang="en-US" sz="1200" dirty="0"/>
          </a:p>
        </p:txBody>
      </p:sp>
      <p:sp>
        <p:nvSpPr>
          <p:cNvPr id="10" name="Shape 8"/>
          <p:cNvSpPr/>
          <p:nvPr/>
        </p:nvSpPr>
        <p:spPr>
          <a:xfrm>
            <a:off x="548640" y="3886200"/>
            <a:ext cx="5394960" cy="1920240"/>
          </a:xfrm>
          <a:prstGeom prst="roundRect">
            <a:avLst>
              <a:gd name="adj" fmla="val 3810"/>
            </a:avLst>
          </a:prstGeom>
          <a:solidFill>
            <a:srgbClr val="F4F6FB"/>
          </a:solidFill>
          <a:ln w="9525">
            <a:solidFill>
              <a:srgbClr val="E3E6EE"/>
            </a:solidFill>
            <a:prstDash val="solid"/>
          </a:ln>
        </p:spPr>
      </p:sp>
      <p:sp>
        <p:nvSpPr>
          <p:cNvPr id="11" name="Text 9"/>
          <p:cNvSpPr/>
          <p:nvPr/>
        </p:nvSpPr>
        <p:spPr>
          <a:xfrm>
            <a:off x="822960" y="4069080"/>
            <a:ext cx="4846320" cy="457200"/>
          </a:xfrm>
          <a:prstGeom prst="rect">
            <a:avLst/>
          </a:prstGeom>
          <a:noFill/>
          <a:ln/>
        </p:spPr>
        <p:txBody>
          <a:bodyPr wrap="square" rtlCol="0" anchor="ctr"/>
          <a:lstStyle/>
          <a:p>
            <a:pPr indent="0" marL="0">
              <a:buNone/>
            </a:pPr>
            <a:r>
              <a:rPr lang="en-US" sz="1500" b="1" dirty="0">
                <a:solidFill>
                  <a:srgbClr val="C8A44D"/>
                </a:solidFill>
                <a:latin typeface="Yu Gothic" pitchFamily="34" charset="0"/>
                <a:ea typeface="Yu Gothic" pitchFamily="34" charset="-122"/>
                <a:cs typeface="Yu Gothic" pitchFamily="34" charset="-120"/>
              </a:rPr>
              <a:t>実測タイミングを記録</a:t>
            </a:r>
            <a:endParaRPr lang="en-US" sz="1500" dirty="0"/>
          </a:p>
        </p:txBody>
      </p:sp>
      <p:sp>
        <p:nvSpPr>
          <p:cNvPr id="12" name="Text 10"/>
          <p:cNvSpPr/>
          <p:nvPr/>
        </p:nvSpPr>
        <p:spPr>
          <a:xfrm>
            <a:off x="822960" y="4572000"/>
            <a:ext cx="4846320" cy="114300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画面に実際に表示された時刻・間隔を毎回記録し、名目値でなく実測値で解析する。端末の画面書き換え頻度も記録する。</a:t>
            </a:r>
            <a:endParaRPr lang="en-US" sz="1200" dirty="0"/>
          </a:p>
        </p:txBody>
      </p:sp>
      <p:sp>
        <p:nvSpPr>
          <p:cNvPr id="13" name="Shape 11"/>
          <p:cNvSpPr/>
          <p:nvPr/>
        </p:nvSpPr>
        <p:spPr>
          <a:xfrm>
            <a:off x="6309360" y="3886200"/>
            <a:ext cx="5394960" cy="1920240"/>
          </a:xfrm>
          <a:prstGeom prst="roundRect">
            <a:avLst>
              <a:gd name="adj" fmla="val 3810"/>
            </a:avLst>
          </a:prstGeom>
          <a:solidFill>
            <a:srgbClr val="F4F6FB"/>
          </a:solidFill>
          <a:ln w="9525">
            <a:solidFill>
              <a:srgbClr val="E3E6EE"/>
            </a:solidFill>
            <a:prstDash val="solid"/>
          </a:ln>
        </p:spPr>
      </p:sp>
      <p:sp>
        <p:nvSpPr>
          <p:cNvPr id="14" name="Text 12"/>
          <p:cNvSpPr/>
          <p:nvPr/>
        </p:nvSpPr>
        <p:spPr>
          <a:xfrm>
            <a:off x="6583680" y="4069080"/>
            <a:ext cx="4846320" cy="457200"/>
          </a:xfrm>
          <a:prstGeom prst="rect">
            <a:avLst/>
          </a:prstGeom>
          <a:noFill/>
          <a:ln/>
        </p:spPr>
        <p:txBody>
          <a:bodyPr wrap="square" rtlCol="0" anchor="ctr"/>
          <a:lstStyle/>
          <a:p>
            <a:pPr indent="0" marL="0">
              <a:buNone/>
            </a:pPr>
            <a:r>
              <a:rPr lang="en-US" sz="1500" b="1" dirty="0">
                <a:solidFill>
                  <a:srgbClr val="C25B4E"/>
                </a:solidFill>
                <a:latin typeface="Yu Gothic" pitchFamily="34" charset="0"/>
                <a:ea typeface="Yu Gothic" pitchFamily="34" charset="-122"/>
                <a:cs typeface="Yu Gothic" pitchFamily="34" charset="-120"/>
              </a:rPr>
              <a:t>PC優先＋条件付きスマホ</a:t>
            </a:r>
            <a:endParaRPr lang="en-US" sz="1500" dirty="0"/>
          </a:p>
        </p:txBody>
      </p:sp>
      <p:sp>
        <p:nvSpPr>
          <p:cNvPr id="15" name="Text 13"/>
          <p:cNvSpPr/>
          <p:nvPr/>
        </p:nvSpPr>
        <p:spPr>
          <a:xfrm>
            <a:off x="6583680" y="4572000"/>
            <a:ext cx="4846320" cy="114300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表示タイミングが命の実験なのでPCを推奨。聴覚はヘッドホン装着の確認を必須にする。</a:t>
            </a:r>
            <a:endParaRPr lang="en-US" sz="1200" dirty="0"/>
          </a:p>
        </p:txBody>
      </p:sp>
      <p:sp>
        <p:nvSpPr>
          <p:cNvPr id="16" name="Text 14"/>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17"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EVIDENCE</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ここまでに数値で確かめたこと</a:t>
            </a:r>
            <a:endParaRPr lang="en-US" sz="2600" dirty="0"/>
          </a:p>
        </p:txBody>
      </p:sp>
      <p:sp>
        <p:nvSpPr>
          <p:cNvPr id="4" name="Shape 2"/>
          <p:cNvSpPr/>
          <p:nvPr/>
        </p:nvSpPr>
        <p:spPr>
          <a:xfrm>
            <a:off x="548640" y="1737360"/>
            <a:ext cx="5394960" cy="1874520"/>
          </a:xfrm>
          <a:prstGeom prst="roundRect">
            <a:avLst>
              <a:gd name="adj" fmla="val 3902"/>
            </a:avLst>
          </a:prstGeom>
          <a:solidFill>
            <a:srgbClr val="F4F6FB"/>
          </a:solidFill>
          <a:ln w="9525">
            <a:solidFill>
              <a:srgbClr val="E3E6EE"/>
            </a:solidFill>
            <a:prstDash val="solid"/>
          </a:ln>
        </p:spPr>
      </p:sp>
      <p:sp>
        <p:nvSpPr>
          <p:cNvPr id="5" name="Text 3"/>
          <p:cNvSpPr/>
          <p:nvPr/>
        </p:nvSpPr>
        <p:spPr>
          <a:xfrm>
            <a:off x="731520" y="2011680"/>
            <a:ext cx="2057400" cy="1280160"/>
          </a:xfrm>
          <a:prstGeom prst="rect">
            <a:avLst/>
          </a:prstGeom>
          <a:noFill/>
          <a:ln/>
        </p:spPr>
        <p:txBody>
          <a:bodyPr wrap="square" rtlCol="0" anchor="ctr"/>
          <a:lstStyle/>
          <a:p>
            <a:pPr algn="ctr" indent="0" marL="0">
              <a:buNone/>
            </a:pPr>
            <a:r>
              <a:rPr lang="en-US" sz="2400" b="1" dirty="0">
                <a:solidFill>
                  <a:srgbClr val="1E2A5E"/>
                </a:solidFill>
                <a:latin typeface="Yu Gothic" pitchFamily="34" charset="0"/>
                <a:ea typeface="Yu Gothic" pitchFamily="34" charset="-122"/>
                <a:cs typeface="Yu Gothic" pitchFamily="34" charset="-120"/>
              </a:rPr>
              <a:t>約2倍</a:t>
            </a:r>
            <a:endParaRPr lang="en-US" sz="2400" dirty="0"/>
          </a:p>
        </p:txBody>
      </p:sp>
      <p:sp>
        <p:nvSpPr>
          <p:cNvPr id="6" name="Text 4"/>
          <p:cNvSpPr/>
          <p:nvPr/>
        </p:nvSpPr>
        <p:spPr>
          <a:xfrm>
            <a:off x="2834640" y="1965960"/>
            <a:ext cx="2926080" cy="146304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同じかなでも、単独の発音と語中の発音は大きく違う（別のかなどうしの違いの約2倍）。だから聴覚は2文字の課題も行う</a:t>
            </a:r>
            <a:endParaRPr lang="en-US" sz="1200" dirty="0"/>
          </a:p>
        </p:txBody>
      </p:sp>
      <p:sp>
        <p:nvSpPr>
          <p:cNvPr id="7" name="Shape 5"/>
          <p:cNvSpPr/>
          <p:nvPr/>
        </p:nvSpPr>
        <p:spPr>
          <a:xfrm>
            <a:off x="6309360" y="1737360"/>
            <a:ext cx="5394960" cy="1874520"/>
          </a:xfrm>
          <a:prstGeom prst="roundRect">
            <a:avLst>
              <a:gd name="adj" fmla="val 3902"/>
            </a:avLst>
          </a:prstGeom>
          <a:solidFill>
            <a:srgbClr val="F4F6FB"/>
          </a:solidFill>
          <a:ln w="9525">
            <a:solidFill>
              <a:srgbClr val="E3E6EE"/>
            </a:solidFill>
            <a:prstDash val="solid"/>
          </a:ln>
        </p:spPr>
      </p:sp>
      <p:sp>
        <p:nvSpPr>
          <p:cNvPr id="8" name="Text 6"/>
          <p:cNvSpPr/>
          <p:nvPr/>
        </p:nvSpPr>
        <p:spPr>
          <a:xfrm>
            <a:off x="6492240" y="2011680"/>
            <a:ext cx="2057400" cy="1280160"/>
          </a:xfrm>
          <a:prstGeom prst="rect">
            <a:avLst/>
          </a:prstGeom>
          <a:noFill/>
          <a:ln/>
        </p:spPr>
        <p:txBody>
          <a:bodyPr wrap="square" rtlCol="0" anchor="ctr"/>
          <a:lstStyle/>
          <a:p>
            <a:pPr algn="ctr" indent="0" marL="0">
              <a:buNone/>
            </a:pPr>
            <a:r>
              <a:rPr lang="en-US" sz="2400" b="1" dirty="0">
                <a:solidFill>
                  <a:srgbClr val="2E7D8F"/>
                </a:solidFill>
                <a:latin typeface="Yu Gothic" pitchFamily="34" charset="0"/>
                <a:ea typeface="Yu Gothic" pitchFamily="34" charset="-122"/>
                <a:cs typeface="Yu Gothic" pitchFamily="34" charset="-120"/>
              </a:rPr>
              <a:t>21組</a:t>
            </a:r>
            <a:endParaRPr lang="en-US" sz="2400" dirty="0"/>
          </a:p>
        </p:txBody>
      </p:sp>
      <p:sp>
        <p:nvSpPr>
          <p:cNvPr id="9" name="Text 7"/>
          <p:cNvSpPr/>
          <p:nvPr/>
        </p:nvSpPr>
        <p:spPr>
          <a:xfrm>
            <a:off x="8595360" y="1965960"/>
            <a:ext cx="2926080" cy="146304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百人一首の勝負どころ（先頭2文字）に「を」が現れる組の数。表記どおりの表示には「を」の曲線が必須</a:t>
            </a:r>
            <a:endParaRPr lang="en-US" sz="1200" dirty="0"/>
          </a:p>
        </p:txBody>
      </p:sp>
      <p:sp>
        <p:nvSpPr>
          <p:cNvPr id="10" name="Shape 8"/>
          <p:cNvSpPr/>
          <p:nvPr/>
        </p:nvSpPr>
        <p:spPr>
          <a:xfrm>
            <a:off x="548640" y="3840480"/>
            <a:ext cx="5394960" cy="1874520"/>
          </a:xfrm>
          <a:prstGeom prst="roundRect">
            <a:avLst>
              <a:gd name="adj" fmla="val 3902"/>
            </a:avLst>
          </a:prstGeom>
          <a:solidFill>
            <a:srgbClr val="F4F6FB"/>
          </a:solidFill>
          <a:ln w="9525">
            <a:solidFill>
              <a:srgbClr val="E3E6EE"/>
            </a:solidFill>
            <a:prstDash val="solid"/>
          </a:ln>
        </p:spPr>
      </p:sp>
      <p:sp>
        <p:nvSpPr>
          <p:cNvPr id="11" name="Text 9"/>
          <p:cNvSpPr/>
          <p:nvPr/>
        </p:nvSpPr>
        <p:spPr>
          <a:xfrm>
            <a:off x="731520" y="4114800"/>
            <a:ext cx="2057400" cy="1280160"/>
          </a:xfrm>
          <a:prstGeom prst="rect">
            <a:avLst/>
          </a:prstGeom>
          <a:noFill/>
          <a:ln/>
        </p:spPr>
        <p:txBody>
          <a:bodyPr wrap="square" rtlCol="0" anchor="ctr"/>
          <a:lstStyle/>
          <a:p>
            <a:pPr algn="ctr" indent="0" marL="0">
              <a:buNone/>
            </a:pPr>
            <a:r>
              <a:rPr lang="en-US" sz="1900" b="1" dirty="0">
                <a:solidFill>
                  <a:srgbClr val="C8A44D"/>
                </a:solidFill>
                <a:latin typeface="Yu Gothic" pitchFamily="34" charset="0"/>
                <a:ea typeface="Yu Gothic" pitchFamily="34" charset="-122"/>
                <a:cs typeface="Yu Gothic" pitchFamily="34" charset="-120"/>
              </a:rPr>
              <a:t>同一ファイル</a:t>
            </a:r>
            <a:endParaRPr lang="en-US" sz="1900" dirty="0"/>
          </a:p>
        </p:txBody>
      </p:sp>
      <p:sp>
        <p:nvSpPr>
          <p:cNvPr id="12" name="Text 10"/>
          <p:cNvSpPr/>
          <p:nvPr/>
        </p:nvSpPr>
        <p:spPr>
          <a:xfrm>
            <a:off x="2834640" y="4069080"/>
            <a:ext cx="2926080" cy="146304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合成音声の を/お・ぢ/じ・づ/ず は、実際に同一の音声データだった。聴覚を68音に整理する直接の根拠</a:t>
            </a:r>
            <a:endParaRPr lang="en-US" sz="1200" dirty="0"/>
          </a:p>
        </p:txBody>
      </p:sp>
      <p:sp>
        <p:nvSpPr>
          <p:cNvPr id="13" name="Shape 11"/>
          <p:cNvSpPr/>
          <p:nvPr/>
        </p:nvSpPr>
        <p:spPr>
          <a:xfrm>
            <a:off x="6309360" y="3840480"/>
            <a:ext cx="5394960" cy="1874520"/>
          </a:xfrm>
          <a:prstGeom prst="roundRect">
            <a:avLst>
              <a:gd name="adj" fmla="val 3902"/>
            </a:avLst>
          </a:prstGeom>
          <a:solidFill>
            <a:srgbClr val="F4F6FB"/>
          </a:solidFill>
          <a:ln w="9525">
            <a:solidFill>
              <a:srgbClr val="E3E6EE"/>
            </a:solidFill>
            <a:prstDash val="solid"/>
          </a:ln>
        </p:spPr>
      </p:sp>
      <p:sp>
        <p:nvSpPr>
          <p:cNvPr id="14" name="Text 12"/>
          <p:cNvSpPr/>
          <p:nvPr/>
        </p:nvSpPr>
        <p:spPr>
          <a:xfrm>
            <a:off x="6492240" y="4114800"/>
            <a:ext cx="2057400" cy="1280160"/>
          </a:xfrm>
          <a:prstGeom prst="rect">
            <a:avLst/>
          </a:prstGeom>
          <a:noFill/>
          <a:ln/>
        </p:spPr>
        <p:txBody>
          <a:bodyPr wrap="square" rtlCol="0" anchor="ctr"/>
          <a:lstStyle/>
          <a:p>
            <a:pPr algn="ctr" indent="0" marL="0">
              <a:buNone/>
            </a:pPr>
            <a:r>
              <a:rPr lang="en-US" sz="1900" b="1" dirty="0">
                <a:solidFill>
                  <a:srgbClr val="C25B4E"/>
                </a:solidFill>
                <a:latin typeface="Yu Gothic" pitchFamily="34" charset="0"/>
                <a:ea typeface="Yu Gothic" pitchFamily="34" charset="-122"/>
                <a:cs typeface="Yu Gothic" pitchFamily="34" charset="-120"/>
              </a:rPr>
              <a:t>99.9%</a:t>
            </a:r>
            <a:endParaRPr lang="en-US" sz="1900" dirty="0"/>
          </a:p>
        </p:txBody>
      </p:sp>
      <p:sp>
        <p:nvSpPr>
          <p:cNvPr id="15" name="Text 13"/>
          <p:cNvSpPr/>
          <p:nvPr/>
        </p:nvSpPr>
        <p:spPr>
          <a:xfrm>
            <a:off x="8595360" y="4069080"/>
            <a:ext cx="2926080" cy="1463040"/>
          </a:xfrm>
          <a:prstGeom prst="rect">
            <a:avLst/>
          </a:prstGeom>
          <a:noFill/>
          <a:ln/>
        </p:spPr>
        <p:txBody>
          <a:bodyPr wrap="square"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百人一首のかなの並びが現代語としても自然である割合。この教材で作る仕組みが一般の日本語にも通じる根拠</a:t>
            </a:r>
            <a:endParaRPr lang="en-US" sz="1200" dirty="0"/>
          </a:p>
        </p:txBody>
      </p:sp>
      <p:sp>
        <p:nvSpPr>
          <p:cNvPr id="16" name="Text 14"/>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17"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NEXT</a:t>
            </a:r>
            <a:endParaRPr lang="en-US" sz="11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2600" b="1" dirty="0">
                <a:solidFill>
                  <a:srgbClr val="1E2A5E"/>
                </a:solidFill>
                <a:latin typeface="Yu Gothic" pitchFamily="34" charset="0"/>
                <a:ea typeface="Yu Gothic" pitchFamily="34" charset="-122"/>
                <a:cs typeface="Yu Gothic" pitchFamily="34" charset="-120"/>
              </a:rPr>
              <a:t>残っている作業と、始めるための条件</a:t>
            </a:r>
            <a:endParaRPr lang="en-US" sz="2600" dirty="0"/>
          </a:p>
        </p:txBody>
      </p:sp>
      <p:sp>
        <p:nvSpPr>
          <p:cNvPr id="4" name="Shape 2"/>
          <p:cNvSpPr/>
          <p:nvPr/>
        </p:nvSpPr>
        <p:spPr>
          <a:xfrm>
            <a:off x="548640" y="1691640"/>
            <a:ext cx="5486400" cy="4114800"/>
          </a:xfrm>
          <a:prstGeom prst="roundRect">
            <a:avLst>
              <a:gd name="adj" fmla="val 1778"/>
            </a:avLst>
          </a:prstGeom>
          <a:solidFill>
            <a:srgbClr val="F4F6FB"/>
          </a:solidFill>
          <a:ln w="9525">
            <a:solidFill>
              <a:srgbClr val="E3E6EE"/>
            </a:solidFill>
            <a:prstDash val="solid"/>
          </a:ln>
        </p:spPr>
      </p:sp>
      <p:sp>
        <p:nvSpPr>
          <p:cNvPr id="5" name="Text 3"/>
          <p:cNvSpPr/>
          <p:nvPr/>
        </p:nvSpPr>
        <p:spPr>
          <a:xfrm>
            <a:off x="868680" y="1874520"/>
            <a:ext cx="4572000" cy="411480"/>
          </a:xfrm>
          <a:prstGeom prst="rect">
            <a:avLst/>
          </a:prstGeom>
          <a:noFill/>
          <a:ln/>
        </p:spPr>
        <p:txBody>
          <a:bodyPr wrap="square" rtlCol="0" anchor="ctr"/>
          <a:lstStyle/>
          <a:p>
            <a:pPr indent="0" marL="0">
              <a:buNone/>
            </a:pPr>
            <a:r>
              <a:rPr lang="en-US" sz="1600" b="1" dirty="0">
                <a:solidFill>
                  <a:srgbClr val="C25B4E"/>
                </a:solidFill>
                <a:latin typeface="Yu Gothic" pitchFamily="34" charset="0"/>
                <a:ea typeface="Yu Gothic" pitchFamily="34" charset="-122"/>
                <a:cs typeface="Yu Gothic" pitchFamily="34" charset="-120"/>
              </a:rPr>
              <a:t>実験を始めるまでに</a:t>
            </a:r>
            <a:endParaRPr lang="en-US" sz="1600" dirty="0"/>
          </a:p>
        </p:txBody>
      </p:sp>
      <p:sp>
        <p:nvSpPr>
          <p:cNvPr id="6" name="Text 4"/>
          <p:cNvSpPr/>
          <p:nvPr/>
        </p:nvSpPr>
        <p:spPr>
          <a:xfrm>
            <a:off x="868680" y="2331720"/>
            <a:ext cx="4892040" cy="3108960"/>
          </a:xfrm>
          <a:prstGeom prst="rect">
            <a:avLst/>
          </a:prstGeom>
          <a:noFill/>
          <a:ln/>
        </p:spPr>
        <p:txBody>
          <a:bodyPr wrap="square" rtlCol="0" anchor="ctr"/>
          <a:lstStyle/>
          <a:p>
            <a:pPr marL="342900" indent="-342900">
              <a:lnSpc>
                <a:spcPct val="125000"/>
              </a:lnSpc>
              <a:spcAft>
                <a:spcPts val="900"/>
              </a:spcAft>
              <a:buSzPct val="100000"/>
              <a:buChar char="•"/>
            </a:pPr>
            <a:r>
              <a:rPr lang="en-US" sz="1250" dirty="0">
                <a:solidFill>
                  <a:srgbClr val="22283C"/>
                </a:solidFill>
                <a:latin typeface="Yu Gothic" pitchFamily="34" charset="0"/>
                <a:ea typeface="Yu Gothic" pitchFamily="34" charset="-122"/>
                <a:cs typeface="Yu Gothic" pitchFamily="34" charset="-120"/>
              </a:rPr>
              <a:t>倫理審査の承認（審議中）— 本実験の開始条件</a:t>
            </a:r>
            <a:endParaRPr lang="en-US" sz="1250" dirty="0"/>
          </a:p>
          <a:p>
            <a:pPr marL="342900" indent="-342900">
              <a:lnSpc>
                <a:spcPct val="125000"/>
              </a:lnSpc>
              <a:spcAft>
                <a:spcPts val="900"/>
              </a:spcAft>
              <a:buSzPct val="100000"/>
              <a:buChar char="•"/>
            </a:pPr>
            <a:r>
              <a:rPr lang="en-US" sz="1250" dirty="0">
                <a:solidFill>
                  <a:srgbClr val="22283C"/>
                </a:solidFill>
                <a:latin typeface="Yu Gothic" pitchFamily="34" charset="0"/>
                <a:ea typeface="Yu Gothic" pitchFamily="34" charset="-122"/>
                <a:cs typeface="Yu Gothic" pitchFamily="34" charset="-120"/>
              </a:rPr>
              <a:t>干渉の判定規則を数値で事前に決めて文書化する</a:t>
            </a:r>
            <a:endParaRPr lang="en-US" sz="1250" dirty="0"/>
          </a:p>
          <a:p>
            <a:pPr marL="342900" indent="-342900">
              <a:lnSpc>
                <a:spcPct val="125000"/>
              </a:lnSpc>
              <a:spcAft>
                <a:spcPts val="900"/>
              </a:spcAft>
              <a:buSzPct val="100000"/>
              <a:buChar char="•"/>
            </a:pPr>
            <a:r>
              <a:rPr lang="en-US" sz="1250" dirty="0">
                <a:solidFill>
                  <a:srgbClr val="22283C"/>
                </a:solidFill>
                <a:latin typeface="Yu Gothic" pitchFamily="34" charset="0"/>
                <a:ea typeface="Yu Gothic" pitchFamily="34" charset="-122"/>
                <a:cs typeface="Yu Gothic" pitchFamily="34" charset="-120"/>
              </a:rPr>
              <a:t>乙課題への統合を受けて、セッション配分と費用表を再計算する</a:t>
            </a:r>
            <a:endParaRPr lang="en-US" sz="1250" dirty="0"/>
          </a:p>
          <a:p>
            <a:pPr marL="342900" indent="-342900">
              <a:lnSpc>
                <a:spcPct val="125000"/>
              </a:lnSpc>
              <a:spcAft>
                <a:spcPts val="900"/>
              </a:spcAft>
              <a:buSzPct val="100000"/>
              <a:buChar char="•"/>
            </a:pPr>
            <a:r>
              <a:rPr lang="en-US" sz="1250" dirty="0">
                <a:solidFill>
                  <a:srgbClr val="22283C"/>
                </a:solidFill>
                <a:latin typeface="Yu Gothic" pitchFamily="34" charset="0"/>
                <a:ea typeface="Yu Gothic" pitchFamily="34" charset="-122"/>
                <a:cs typeface="Yu Gothic" pitchFamily="34" charset="-120"/>
              </a:rPr>
              <a:t>パイロットを本番化する（回答の保存・完了コード・同意画面）</a:t>
            </a:r>
            <a:endParaRPr lang="en-US" sz="1250" dirty="0"/>
          </a:p>
        </p:txBody>
      </p:sp>
      <p:sp>
        <p:nvSpPr>
          <p:cNvPr id="7" name="Shape 5"/>
          <p:cNvSpPr/>
          <p:nvPr/>
        </p:nvSpPr>
        <p:spPr>
          <a:xfrm>
            <a:off x="6309360" y="1691640"/>
            <a:ext cx="5303520" cy="4114800"/>
          </a:xfrm>
          <a:prstGeom prst="roundRect">
            <a:avLst>
              <a:gd name="adj" fmla="val 1778"/>
            </a:avLst>
          </a:prstGeom>
          <a:solidFill>
            <a:srgbClr val="F4F6FB"/>
          </a:solidFill>
          <a:ln w="9525">
            <a:solidFill>
              <a:srgbClr val="E3E6EE"/>
            </a:solidFill>
            <a:prstDash val="solid"/>
          </a:ln>
        </p:spPr>
      </p:sp>
      <p:sp>
        <p:nvSpPr>
          <p:cNvPr id="8" name="Text 6"/>
          <p:cNvSpPr/>
          <p:nvPr/>
        </p:nvSpPr>
        <p:spPr>
          <a:xfrm>
            <a:off x="6629400" y="1874520"/>
            <a:ext cx="4572000" cy="411480"/>
          </a:xfrm>
          <a:prstGeom prst="rect">
            <a:avLst/>
          </a:prstGeom>
          <a:noFill/>
          <a:ln/>
        </p:spPr>
        <p:txBody>
          <a:bodyPr wrap="square" rtlCol="0" anchor="ctr"/>
          <a:lstStyle/>
          <a:p>
            <a:pPr indent="0" marL="0">
              <a:buNone/>
            </a:pPr>
            <a:r>
              <a:rPr lang="en-US" sz="1600" b="1" dirty="0">
                <a:solidFill>
                  <a:srgbClr val="2E7D8F"/>
                </a:solidFill>
                <a:latin typeface="Yu Gothic" pitchFamily="34" charset="0"/>
                <a:ea typeface="Yu Gothic" pitchFamily="34" charset="-122"/>
                <a:cs typeface="Yu Gothic" pitchFamily="34" charset="-120"/>
              </a:rPr>
              <a:t>実験と並行して</a:t>
            </a:r>
            <a:endParaRPr lang="en-US" sz="1600" dirty="0"/>
          </a:p>
        </p:txBody>
      </p:sp>
      <p:sp>
        <p:nvSpPr>
          <p:cNvPr id="9" name="Text 7"/>
          <p:cNvSpPr/>
          <p:nvPr/>
        </p:nvSpPr>
        <p:spPr>
          <a:xfrm>
            <a:off x="6629400" y="2331720"/>
            <a:ext cx="4709160" cy="3108960"/>
          </a:xfrm>
          <a:prstGeom prst="rect">
            <a:avLst/>
          </a:prstGeom>
          <a:noFill/>
          <a:ln/>
        </p:spPr>
        <p:txBody>
          <a:bodyPr wrap="square" rtlCol="0" anchor="ctr"/>
          <a:lstStyle/>
          <a:p>
            <a:pPr marL="342900" indent="-342900">
              <a:lnSpc>
                <a:spcPct val="125000"/>
              </a:lnSpc>
              <a:spcAft>
                <a:spcPts val="900"/>
              </a:spcAft>
              <a:buSzPct val="100000"/>
              <a:buChar char="•"/>
            </a:pPr>
            <a:r>
              <a:rPr lang="en-US" sz="1250" dirty="0">
                <a:solidFill>
                  <a:srgbClr val="22283C"/>
                </a:solidFill>
                <a:latin typeface="Yu Gothic" pitchFamily="34" charset="0"/>
                <a:ea typeface="Yu Gothic" pitchFamily="34" charset="-122"/>
                <a:cs typeface="Yu Gothic" pitchFamily="34" charset="-120"/>
              </a:rPr>
              <a:t>fracの視覚課題を78字に広げる（を・ゐ・ゑ・小書きの曲線）</a:t>
            </a:r>
            <a:endParaRPr lang="en-US" sz="1250" dirty="0"/>
          </a:p>
          <a:p>
            <a:pPr marL="342900" indent="-342900">
              <a:lnSpc>
                <a:spcPct val="125000"/>
              </a:lnSpc>
              <a:spcAft>
                <a:spcPts val="900"/>
              </a:spcAft>
              <a:buSzPct val="100000"/>
              <a:buChar char="•"/>
            </a:pPr>
            <a:r>
              <a:rPr lang="en-US" sz="1250" dirty="0">
                <a:solidFill>
                  <a:srgbClr val="22283C"/>
                </a:solidFill>
                <a:latin typeface="Yu Gothic" pitchFamily="34" charset="0"/>
                <a:ea typeface="Yu Gothic" pitchFamily="34" charset="-122"/>
                <a:cs typeface="Yu Gothic" pitchFamily="34" charset="-120"/>
              </a:rPr>
              <a:t>百人一首100首の読み対応表を作り、人手で検証する</a:t>
            </a:r>
            <a:endParaRPr lang="en-US" sz="1250" dirty="0"/>
          </a:p>
          <a:p>
            <a:pPr marL="342900" indent="-342900">
              <a:lnSpc>
                <a:spcPct val="125000"/>
              </a:lnSpc>
              <a:spcAft>
                <a:spcPts val="900"/>
              </a:spcAft>
              <a:buSzPct val="100000"/>
              <a:buChar char="•"/>
            </a:pPr>
            <a:r>
              <a:rPr lang="en-US" sz="1250" dirty="0">
                <a:solidFill>
                  <a:srgbClr val="22283C"/>
                </a:solidFill>
                <a:latin typeface="Yu Gothic" pitchFamily="34" charset="0"/>
                <a:ea typeface="Yu Gothic" pitchFamily="34" charset="-122"/>
                <a:cs typeface="Yu Gothic" pitchFamily="34" charset="-120"/>
              </a:rPr>
              <a:t>ツールに前処理（形態素解析とふりがな上書き）を組み込む</a:t>
            </a:r>
            <a:endParaRPr lang="en-US" sz="1250" dirty="0"/>
          </a:p>
          <a:p>
            <a:pPr marL="342900" indent="-342900">
              <a:lnSpc>
                <a:spcPct val="125000"/>
              </a:lnSpc>
              <a:spcAft>
                <a:spcPts val="900"/>
              </a:spcAft>
              <a:buSzPct val="100000"/>
              <a:buChar char="•"/>
            </a:pPr>
            <a:r>
              <a:rPr lang="en-US" sz="1250" dirty="0">
                <a:solidFill>
                  <a:srgbClr val="22283C"/>
                </a:solidFill>
                <a:latin typeface="Yu Gothic" pitchFamily="34" charset="0"/>
                <a:ea typeface="Yu Gothic" pitchFamily="34" charset="-122"/>
                <a:cs typeface="Yu Gothic" pitchFamily="34" charset="-120"/>
              </a:rPr>
              <a:t>論文の実験設計の章を、この設計に合わせて書き直す（変更履歴で）</a:t>
            </a:r>
            <a:endParaRPr lang="en-US" sz="1250" dirty="0"/>
          </a:p>
        </p:txBody>
      </p:sp>
      <p:sp>
        <p:nvSpPr>
          <p:cNvPr id="10" name="Text 8"/>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iFont</a:t>
            </a:r>
            <a:endParaRPr lang="en-US" sz="900" dirty="0"/>
          </a:p>
        </p:txBody>
      </p:sp>
      <p:sp>
        <p:nvSpPr>
          <p:cNvPr id="11" name="Text 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A5E"/>
        </a:solidFill>
      </p:bgPr>
    </p:bg>
    <p:spTree>
      <p:nvGrpSpPr>
        <p:cNvPr id="1" name=""/>
        <p:cNvGrpSpPr/>
        <p:nvPr/>
      </p:nvGrpSpPr>
      <p:grpSpPr>
        <a:xfrm>
          <a:off x="0" y="0"/>
          <a:ext cx="0" cy="0"/>
          <a:chOff x="0" y="0"/>
          <a:chExt cx="0" cy="0"/>
        </a:xfrm>
      </p:grpSpPr>
      <p:sp>
        <p:nvSpPr>
          <p:cNvPr id="2" name="Text 0"/>
          <p:cNvSpPr/>
          <p:nvPr/>
        </p:nvSpPr>
        <p:spPr>
          <a:xfrm>
            <a:off x="822960" y="502920"/>
            <a:ext cx="7315200" cy="320040"/>
          </a:xfrm>
          <a:prstGeom prst="rect">
            <a:avLst/>
          </a:prstGeom>
          <a:noFill/>
          <a:ln/>
        </p:spPr>
        <p:txBody>
          <a:bodyPr wrap="square" rtlCol="0" anchor="ctr"/>
          <a:lstStyle/>
          <a:p>
            <a:pPr indent="0" marL="0">
              <a:buNone/>
            </a:pPr>
            <a:r>
              <a:rPr lang="en-US" sz="1100" b="1" spc="200" kern="0" dirty="0">
                <a:solidFill>
                  <a:srgbClr val="C8A44D"/>
                </a:solidFill>
                <a:latin typeface="Yu Gothic" pitchFamily="34" charset="0"/>
                <a:ea typeface="Yu Gothic" pitchFamily="34" charset="-122"/>
                <a:cs typeface="Yu Gothic" pitchFamily="34" charset="-120"/>
              </a:rPr>
              <a:t>SUMMARY</a:t>
            </a:r>
            <a:endParaRPr lang="en-US" sz="1100" dirty="0"/>
          </a:p>
        </p:txBody>
      </p:sp>
      <p:sp>
        <p:nvSpPr>
          <p:cNvPr id="3" name="Text 1"/>
          <p:cNvSpPr/>
          <p:nvPr/>
        </p:nvSpPr>
        <p:spPr>
          <a:xfrm>
            <a:off x="822960" y="868680"/>
            <a:ext cx="10515600" cy="640080"/>
          </a:xfrm>
          <a:prstGeom prst="rect">
            <a:avLst/>
          </a:prstGeom>
          <a:noFill/>
          <a:ln/>
        </p:spPr>
        <p:txBody>
          <a:bodyPr wrap="square"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まとめ — したいこと・測ること・作るもの</a:t>
            </a:r>
            <a:endParaRPr lang="en-US" sz="2600" dirty="0"/>
          </a:p>
        </p:txBody>
      </p:sp>
      <p:sp>
        <p:nvSpPr>
          <p:cNvPr id="4" name="Shape 2"/>
          <p:cNvSpPr/>
          <p:nvPr/>
        </p:nvSpPr>
        <p:spPr>
          <a:xfrm>
            <a:off x="868680" y="1874520"/>
            <a:ext cx="347472" cy="347472"/>
          </a:xfrm>
          <a:prstGeom prst="ellipse">
            <a:avLst/>
          </a:prstGeom>
          <a:solidFill>
            <a:srgbClr val="C8A44D"/>
          </a:solidFill>
          <a:ln/>
        </p:spPr>
      </p:sp>
      <p:sp>
        <p:nvSpPr>
          <p:cNvPr id="5" name="Text 3"/>
          <p:cNvSpPr/>
          <p:nvPr/>
        </p:nvSpPr>
        <p:spPr>
          <a:xfrm>
            <a:off x="813816" y="1856232"/>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6" name="Text 4"/>
          <p:cNvSpPr/>
          <p:nvPr/>
        </p:nvSpPr>
        <p:spPr>
          <a:xfrm>
            <a:off x="1417320" y="1828800"/>
            <a:ext cx="1554480" cy="457200"/>
          </a:xfrm>
          <a:prstGeom prst="rect">
            <a:avLst/>
          </a:prstGeom>
          <a:noFill/>
          <a:ln/>
        </p:spPr>
        <p:txBody>
          <a:bodyPr wrap="square"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したいこと</a:t>
            </a:r>
            <a:endParaRPr lang="en-US" sz="1600" dirty="0"/>
          </a:p>
        </p:txBody>
      </p:sp>
      <p:sp>
        <p:nvSpPr>
          <p:cNvPr id="7" name="Text 5"/>
          <p:cNvSpPr/>
          <p:nvPr/>
        </p:nvSpPr>
        <p:spPr>
          <a:xfrm>
            <a:off x="3017520" y="1828800"/>
            <a:ext cx="8503920" cy="960120"/>
          </a:xfrm>
          <a:prstGeom prst="rect">
            <a:avLst/>
          </a:prstGeom>
          <a:noFill/>
          <a:ln/>
        </p:spPr>
        <p:txBody>
          <a:bodyPr wrap="square" rtlCol="0" anchor="ctr"/>
          <a:lstStyle/>
          <a:p>
            <a:pPr indent="0" marL="0">
              <a:lnSpc>
                <a:spcPct val="120000"/>
              </a:lnSpc>
              <a:buNone/>
            </a:pPr>
            <a:r>
              <a:rPr lang="en-US" sz="1350" dirty="0">
                <a:solidFill>
                  <a:srgbClr val="E8EEFC"/>
                </a:solidFill>
                <a:latin typeface="Yu Gothic" pitchFamily="34" charset="0"/>
                <a:ea typeface="Yu Gothic" pitchFamily="34" charset="-122"/>
                <a:cs typeface="Yu Gothic" pitchFamily="34" charset="-120"/>
              </a:rPr>
              <a:t>音声で「いち早く理解する」ゲーム性を、聴覚に頼れない人にも視覚で同じだけ届ける。入力は普通の文章、出力は音声と、表記どおりのかな列。</a:t>
            </a:r>
            <a:endParaRPr lang="en-US" sz="1350" dirty="0"/>
          </a:p>
        </p:txBody>
      </p:sp>
      <p:sp>
        <p:nvSpPr>
          <p:cNvPr id="8" name="Shape 6"/>
          <p:cNvSpPr/>
          <p:nvPr/>
        </p:nvSpPr>
        <p:spPr>
          <a:xfrm>
            <a:off x="868680" y="2953512"/>
            <a:ext cx="347472" cy="347472"/>
          </a:xfrm>
          <a:prstGeom prst="ellipse">
            <a:avLst/>
          </a:prstGeom>
          <a:solidFill>
            <a:srgbClr val="C8A44D"/>
          </a:solidFill>
          <a:ln/>
        </p:spPr>
      </p:sp>
      <p:sp>
        <p:nvSpPr>
          <p:cNvPr id="9" name="Text 7"/>
          <p:cNvSpPr/>
          <p:nvPr/>
        </p:nvSpPr>
        <p:spPr>
          <a:xfrm>
            <a:off x="813816" y="2935224"/>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0" name="Text 8"/>
          <p:cNvSpPr/>
          <p:nvPr/>
        </p:nvSpPr>
        <p:spPr>
          <a:xfrm>
            <a:off x="1417320" y="2907792"/>
            <a:ext cx="1554480" cy="457200"/>
          </a:xfrm>
          <a:prstGeom prst="rect">
            <a:avLst/>
          </a:prstGeom>
          <a:noFill/>
          <a:ln/>
        </p:spPr>
        <p:txBody>
          <a:bodyPr wrap="square"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測ること</a:t>
            </a:r>
            <a:endParaRPr lang="en-US" sz="1600" dirty="0"/>
          </a:p>
        </p:txBody>
      </p:sp>
      <p:sp>
        <p:nvSpPr>
          <p:cNvPr id="11" name="Text 9"/>
          <p:cNvSpPr/>
          <p:nvPr/>
        </p:nvSpPr>
        <p:spPr>
          <a:xfrm>
            <a:off x="3017520" y="2907792"/>
            <a:ext cx="8503920" cy="960120"/>
          </a:xfrm>
          <a:prstGeom prst="rect">
            <a:avLst/>
          </a:prstGeom>
          <a:noFill/>
          <a:ln/>
        </p:spPr>
        <p:txBody>
          <a:bodyPr wrap="square" rtlCol="0" anchor="ctr"/>
          <a:lstStyle/>
          <a:p>
            <a:pPr indent="0" marL="0">
              <a:lnSpc>
                <a:spcPct val="120000"/>
              </a:lnSpc>
              <a:buNone/>
            </a:pPr>
            <a:r>
              <a:rPr lang="en-US" sz="1350" dirty="0">
                <a:solidFill>
                  <a:srgbClr val="E8EEFC"/>
                </a:solidFill>
                <a:latin typeface="Yu Gothic" pitchFamily="34" charset="0"/>
                <a:ea typeface="Yu Gothic" pitchFamily="34" charset="-122"/>
                <a:cs typeface="Yu Gothic" pitchFamily="34" charset="-120"/>
              </a:rPr>
              <a:t>乙課題で「どの速さまで前の文字が消されないか」を、frac課題で「どこまで届けば分かるか」の曲線を、68音×78字について測る。</a:t>
            </a:r>
            <a:endParaRPr lang="en-US" sz="1350" dirty="0"/>
          </a:p>
        </p:txBody>
      </p:sp>
      <p:sp>
        <p:nvSpPr>
          <p:cNvPr id="12" name="Shape 10"/>
          <p:cNvSpPr/>
          <p:nvPr/>
        </p:nvSpPr>
        <p:spPr>
          <a:xfrm>
            <a:off x="868680" y="4032504"/>
            <a:ext cx="347472" cy="347472"/>
          </a:xfrm>
          <a:prstGeom prst="ellipse">
            <a:avLst/>
          </a:prstGeom>
          <a:solidFill>
            <a:srgbClr val="C8A44D"/>
          </a:solidFill>
          <a:ln/>
        </p:spPr>
      </p:sp>
      <p:sp>
        <p:nvSpPr>
          <p:cNvPr id="13" name="Text 11"/>
          <p:cNvSpPr/>
          <p:nvPr/>
        </p:nvSpPr>
        <p:spPr>
          <a:xfrm>
            <a:off x="813816" y="4014216"/>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14" name="Text 12"/>
          <p:cNvSpPr/>
          <p:nvPr/>
        </p:nvSpPr>
        <p:spPr>
          <a:xfrm>
            <a:off x="1417320" y="3986784"/>
            <a:ext cx="1554480" cy="457200"/>
          </a:xfrm>
          <a:prstGeom prst="rect">
            <a:avLst/>
          </a:prstGeom>
          <a:noFill/>
          <a:ln/>
        </p:spPr>
        <p:txBody>
          <a:bodyPr wrap="square"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作るもの</a:t>
            </a:r>
            <a:endParaRPr lang="en-US" sz="1600" dirty="0"/>
          </a:p>
        </p:txBody>
      </p:sp>
      <p:sp>
        <p:nvSpPr>
          <p:cNvPr id="15" name="Text 13"/>
          <p:cNvSpPr/>
          <p:nvPr/>
        </p:nvSpPr>
        <p:spPr>
          <a:xfrm>
            <a:off x="3017520" y="3986784"/>
            <a:ext cx="8503920" cy="960120"/>
          </a:xfrm>
          <a:prstGeom prst="rect">
            <a:avLst/>
          </a:prstGeom>
          <a:noFill/>
          <a:ln/>
        </p:spPr>
        <p:txBody>
          <a:bodyPr wrap="square" rtlCol="0" anchor="ctr"/>
          <a:lstStyle/>
          <a:p>
            <a:pPr indent="0" marL="0">
              <a:lnSpc>
                <a:spcPct val="120000"/>
              </a:lnSpc>
              <a:buNone/>
            </a:pPr>
            <a:r>
              <a:rPr lang="en-US" sz="1350" dirty="0">
                <a:solidFill>
                  <a:srgbClr val="E8EEFC"/>
                </a:solidFill>
                <a:latin typeface="Yu Gothic" pitchFamily="34" charset="0"/>
                <a:ea typeface="Yu Gothic" pitchFamily="34" charset="-122"/>
                <a:cs typeface="Yu Gothic" pitchFamily="34" charset="-120"/>
              </a:rPr>
              <a:t>g曲線のデータ、音声と同期するレンダリングツール、百人一首パック、そして合成と実測の一致を示す論文。</a:t>
            </a:r>
            <a:endParaRPr lang="en-US" sz="1350" dirty="0"/>
          </a:p>
        </p:txBody>
      </p:sp>
      <p:sp>
        <p:nvSpPr>
          <p:cNvPr id="16" name="Shape 14"/>
          <p:cNvSpPr/>
          <p:nvPr/>
        </p:nvSpPr>
        <p:spPr>
          <a:xfrm>
            <a:off x="868680" y="5111496"/>
            <a:ext cx="347472" cy="347472"/>
          </a:xfrm>
          <a:prstGeom prst="ellipse">
            <a:avLst/>
          </a:prstGeom>
          <a:solidFill>
            <a:srgbClr val="C25B4E"/>
          </a:solidFill>
          <a:ln/>
        </p:spPr>
      </p:sp>
      <p:sp>
        <p:nvSpPr>
          <p:cNvPr id="17" name="Text 15"/>
          <p:cNvSpPr/>
          <p:nvPr/>
        </p:nvSpPr>
        <p:spPr>
          <a:xfrm>
            <a:off x="813816" y="5093208"/>
            <a:ext cx="457200" cy="384048"/>
          </a:xfrm>
          <a:prstGeom prst="rect">
            <a:avLst/>
          </a:prstGeom>
          <a:noFill/>
          <a:ln/>
        </p:spPr>
        <p:txBody>
          <a:bodyPr wrap="square"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18" name="Text 16"/>
          <p:cNvSpPr/>
          <p:nvPr/>
        </p:nvSpPr>
        <p:spPr>
          <a:xfrm>
            <a:off x="1417320" y="5065776"/>
            <a:ext cx="1554480" cy="457200"/>
          </a:xfrm>
          <a:prstGeom prst="rect">
            <a:avLst/>
          </a:prstGeom>
          <a:noFill/>
          <a:ln/>
        </p:spPr>
        <p:txBody>
          <a:bodyPr wrap="square"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いまの位置</a:t>
            </a:r>
            <a:endParaRPr lang="en-US" sz="1600" dirty="0"/>
          </a:p>
        </p:txBody>
      </p:sp>
      <p:sp>
        <p:nvSpPr>
          <p:cNvPr id="19" name="Text 17"/>
          <p:cNvSpPr/>
          <p:nvPr/>
        </p:nvSpPr>
        <p:spPr>
          <a:xfrm>
            <a:off x="3017520" y="5065776"/>
            <a:ext cx="8503920" cy="960120"/>
          </a:xfrm>
          <a:prstGeom prst="rect">
            <a:avLst/>
          </a:prstGeom>
          <a:noFill/>
          <a:ln/>
        </p:spPr>
        <p:txBody>
          <a:bodyPr wrap="square" rtlCol="0" anchor="ctr"/>
          <a:lstStyle/>
          <a:p>
            <a:pPr indent="0" marL="0">
              <a:lnSpc>
                <a:spcPct val="120000"/>
              </a:lnSpc>
              <a:buNone/>
            </a:pPr>
            <a:r>
              <a:rPr lang="en-US" sz="1350" dirty="0">
                <a:solidFill>
                  <a:srgbClr val="E8EEFC"/>
                </a:solidFill>
                <a:latin typeface="Yu Gothic" pitchFamily="34" charset="0"/>
                <a:ea typeface="Yu Gothic" pitchFamily="34" charset="-122"/>
                <a:cs typeface="Yu Gothic" pitchFamily="34" charset="-120"/>
              </a:rPr>
              <a:t>パイロットはv1.7まで磨き上げた。倫理審査の承認と判定規則の文書化がそろえば、本実験を開始できる。</a:t>
            </a:r>
            <a:endParaRPr lang="en-US" sz="1350" dirty="0"/>
          </a:p>
        </p:txBody>
      </p:sp>
      <p:sp>
        <p:nvSpPr>
          <p:cNvPr id="20" name="Text 18"/>
          <p:cNvSpPr/>
          <p:nvPr/>
        </p:nvSpPr>
        <p:spPr>
          <a:xfrm>
            <a:off x="822960" y="6263640"/>
            <a:ext cx="10058400" cy="365760"/>
          </a:xfrm>
          <a:prstGeom prst="rect">
            <a:avLst/>
          </a:prstGeom>
          <a:noFill/>
          <a:ln/>
        </p:spPr>
        <p:txBody>
          <a:bodyPr wrap="square" rtlCol="0" anchor="ctr"/>
          <a:lstStyle/>
          <a:p>
            <a:pPr indent="0" marL="0">
              <a:buNone/>
            </a:pPr>
            <a:r>
              <a:rPr lang="en-US" sz="1100" dirty="0">
                <a:solidFill>
                  <a:srgbClr val="9FB0D8"/>
                </a:solidFill>
                <a:latin typeface="Yu Gothic" pitchFamily="34" charset="0"/>
                <a:ea typeface="Yu Gothic" pitchFamily="34" charset="-122"/>
                <a:cs typeface="Yu Gothic" pitchFamily="34" charset="-120"/>
              </a:rPr>
              <a:t>github.com/qurihara/iFont  /  scrapbox.io/qurihara/iFont  /  2026-07-17</a:t>
            </a:r>
            <a:endParaRPr lang="en-US" sz="1100" dirty="0"/>
          </a:p>
        </p:txBody>
      </p:sp>
      <p:sp>
        <p:nvSpPr>
          <p:cNvPr id="21" name="Text 19"/>
          <p:cNvSpPr/>
          <p:nvPr/>
        </p:nvSpPr>
        <p:spPr>
          <a:xfrm>
            <a:off x="548640" y="6473952"/>
            <a:ext cx="1097280" cy="274320"/>
          </a:xfrm>
          <a:prstGeom prst="rect">
            <a:avLst/>
          </a:prstGeom>
          <a:noFill/>
          <a:ln/>
        </p:spPr>
        <p:txBody>
          <a:bodyPr wrap="square" rtlCol="0" anchor="ctr"/>
          <a:lstStyle/>
          <a:p>
            <a:pPr indent="0" marL="0">
              <a:buNone/>
            </a:pPr>
            <a:r>
              <a:rPr lang="en-US" sz="900" dirty="0">
                <a:solidFill>
                  <a:srgbClr val="9FB0D8"/>
                </a:solidFill>
                <a:latin typeface="Yu Gothic" pitchFamily="34" charset="0"/>
                <a:ea typeface="Yu Gothic" pitchFamily="34" charset="-122"/>
                <a:cs typeface="Yu Gothic" pitchFamily="34" charset="-120"/>
              </a:rPr>
              <a:t>iFont</a:t>
            </a:r>
            <a:endParaRPr lang="en-US" sz="900" dirty="0"/>
          </a:p>
        </p:txBody>
      </p:sp>
      <p:sp>
        <p:nvSpPr>
          <p:cNvPr id="22"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FB0D8"/>
                </a:solidFill>
                <a:latin typeface="Yu Gothic" pitchFamily="34" charset="0"/>
                <a:ea typeface="Yu Gothic" pitchFamily="34" charset="-122"/>
                <a:cs typeface="Yu Gothic"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2026-07-17T01:35:54Z</dcterms:created>
  <dcterms:modified xsi:type="dcterms:W3CDTF">2026-07-17T01:35:54Z</dcterms:modified>
</cp:coreProperties>
</file>