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43539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3931920"/>
            <a:ext cx="4572000" cy="4572000"/>
          </a:xfrm>
          <a:prstGeom prst="ellipse">
            <a:avLst/>
          </a:prstGeom>
          <a:solidFill>
            <a:srgbClr val="2E7D8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iFont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D7DE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インクルーシブ字幕プロジェクト — 全体像と現状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58368" y="3611880"/>
            <a:ext cx="640080" cy="45720"/>
          </a:xfrm>
          <a:prstGeom prst="rect">
            <a:avLst/>
          </a:prstGeom>
          <a:solidFill>
            <a:srgbClr val="C8A44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947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2C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競技かるたの「音声で聞き取る」と「字幕で見て取る」を、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2C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情報提示の公平さの観点から設計する研究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2026-07-04  現状まとめ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68335" y="6035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D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github.com/qurihara/iFont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背景 — なぜ「公平な字幕」なのか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02920" cy="41148"/>
          </a:xfrm>
          <a:prstGeom prst="rect">
            <a:avLst/>
          </a:prstGeom>
          <a:solidFill>
            <a:srgbClr val="C8A44D"/>
          </a:solidFill>
          <a:ln/>
        </p:spPr>
      </p:sp>
      <p:sp>
        <p:nvSpPr>
          <p:cNvPr id="5" name="Text 3"/>
          <p:cNvSpPr/>
          <p:nvPr/>
        </p:nvSpPr>
        <p:spPr>
          <a:xfrm>
            <a:off x="103628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iFont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6400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1984248"/>
            <a:ext cx="384048" cy="384048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18928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耳で取る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229514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競技かるたは、読み上げ音声を聞いて「どの歌か」を識別する。系列が進むほど分かる。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209544"/>
            <a:ext cx="6400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2688" y="3502152"/>
            <a:ext cx="384048" cy="384048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4107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目で取る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381304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聴覚に頼れない人には、字幕で同じ情報を届けたい。だが字幕は瞬時に全部見えてしまう。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727448"/>
            <a:ext cx="6400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2688" y="5020056"/>
            <a:ext cx="384048" cy="384048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49286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公平さ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54480" y="533095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耳と目で「同じ時点に同じだけ分かる」ように、字幕の見え方を時間で設計する。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406640" y="1691640"/>
            <a:ext cx="4144975" cy="4553712"/>
          </a:xfrm>
          <a:prstGeom prst="roundRect">
            <a:avLst>
              <a:gd name="adj" fmla="val 1985"/>
            </a:avLst>
          </a:prstGeom>
          <a:solidFill>
            <a:srgbClr val="1E2A5E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目標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0" y="23774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「文脈なしのかな1文字」を、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視覚と聴覚で劣化させて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識別率の曲線を実測する。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72400" y="39776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0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その視覚↔聴覚の対応づけが、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0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インクルーシブなフォントの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0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設計原理になる。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0" y="5486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A44D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g = 視覚⁻¹ ∘ 聴覚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CORE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中核アイデア — 2階建てモデル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02920" cy="41148"/>
          </a:xfrm>
          <a:prstGeom prst="rect">
            <a:avLst/>
          </a:prstGeom>
          <a:solidFill>
            <a:srgbClr val="C8A44D"/>
          </a:solidFill>
          <a:ln/>
        </p:spPr>
      </p:sp>
      <p:sp>
        <p:nvSpPr>
          <p:cNvPr id="5" name="Text 3"/>
          <p:cNvSpPr/>
          <p:nvPr/>
        </p:nvSpPr>
        <p:spPr>
          <a:xfrm>
            <a:off x="103628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iFont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文字レベルの変換 g と、系列レベルの識別 F を分けて合成する。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84048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文字レベルの変換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9718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かな1文字の「見え方」と「聞こえ方」を対応づける。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本実験で実測する。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38404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754880"/>
            <a:ext cx="384048" cy="384048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800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系列レベルの識別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5349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決まり字の組み合わせ論。百人一首コーパスから計算でき、耳か目かに依存しない。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7720" y="4114800"/>
            <a:ext cx="1371600" cy="0"/>
          </a:xfrm>
          <a:prstGeom prst="line">
            <a:avLst/>
          </a:prstGeom>
          <a:noFill/>
          <a:ln w="38100">
            <a:solidFill>
              <a:srgbClr val="C8A44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26480" y="2103120"/>
            <a:ext cx="5425135" cy="4169664"/>
          </a:xfrm>
          <a:prstGeom prst="roundRect">
            <a:avLst>
              <a:gd name="adj" fmla="val 1974"/>
            </a:avLst>
          </a:prstGeom>
          <a:solidFill>
            <a:srgbClr val="1E2A5E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合成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2834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f_visual_karuta(t) = F( g( 音声かるたストリーム ) 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365760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7DE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視覚版の識別率曲線を、直接測らずに合成する。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7DE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理想的には音声版と一致する = 字幕設計の目標そのもの。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FB0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価値① F が本当にモダリティ非依存かの検証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FB0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価値② 文脈の事前確率による補正量の定量化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THREE CURVES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揃えたい3つの識別率曲線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02920" cy="41148"/>
          </a:xfrm>
          <a:prstGeom prst="rect">
            <a:avLst/>
          </a:prstGeom>
          <a:solidFill>
            <a:srgbClr val="C8A44D"/>
          </a:solidFill>
          <a:ln/>
        </p:spPr>
      </p:sp>
      <p:sp>
        <p:nvSpPr>
          <p:cNvPr id="5" name="Text 3"/>
          <p:cNvSpPr/>
          <p:nvPr/>
        </p:nvSpPr>
        <p:spPr>
          <a:xfrm>
            <a:off x="103628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iFont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393338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103120"/>
            <a:ext cx="457200" cy="45720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9748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A5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f_audio_karuta(t)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音声で「どの歌か」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657600"/>
            <a:ext cx="2753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100首の読み上げから識別。Kikiwake で実測済み。軸は系列の蓄積。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99178" y="1828800"/>
            <a:ext cx="3393338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19218" y="2103120"/>
            <a:ext cx="457200" cy="457200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673498" y="269748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A5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f_visual_kana(p)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73498" y="320040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かな1文字を目で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19218" y="3657600"/>
            <a:ext cx="2753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文脈なしのかなを視覚的に劣化。本実験(視覚)で実測。軸は明瞭度。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58277" y="1828800"/>
            <a:ext cx="3393338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78317" y="2103120"/>
            <a:ext cx="457200" cy="457200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19" name="Text 17"/>
          <p:cNvSpPr/>
          <p:nvPr/>
        </p:nvSpPr>
        <p:spPr>
          <a:xfrm>
            <a:off x="8432597" y="269748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A5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f_audio_kana(p)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32597" y="320040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かな1文字を耳で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78317" y="3657600"/>
            <a:ext cx="2753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文脈なしのかなを聴覚的に劣化。本実験(聴覚)で実測。軸は明瞭度。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257800"/>
            <a:ext cx="10911535" cy="960120"/>
          </a:xfrm>
          <a:prstGeom prst="roundRect">
            <a:avLst>
              <a:gd name="adj" fmla="val 8571"/>
            </a:avLst>
          </a:prstGeom>
          <a:solidFill>
            <a:srgbClr val="F7F3E9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539496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25B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注意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karuta（系列の蓄積）と kana（1文字の明瞭度）は直交した別の軸。単純な比較はできない。両者をつなぐのが変換 g。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EXPERIMENT MATRIX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実験デザインの全体像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02920" cy="41148"/>
          </a:xfrm>
          <a:prstGeom prst="rect">
            <a:avLst/>
          </a:prstGeom>
          <a:solidFill>
            <a:srgbClr val="C8A44D"/>
          </a:solidFill>
          <a:ln/>
        </p:spPr>
      </p:sp>
      <p:sp>
        <p:nvSpPr>
          <p:cNvPr id="5" name="Text 3"/>
          <p:cNvSpPr/>
          <p:nvPr/>
        </p:nvSpPr>
        <p:spPr>
          <a:xfrm>
            <a:off x="103628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iFont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モダリティ（視覚・聴覚）× 課題（1文字・2文字）の4種。すべて時間ベースの新パラダイム。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1文字課題（単音・C1=∅）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0372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2文字課題（C1→C2・共調音）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660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視覚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7777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7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聴覚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0" y="2148840"/>
            <a:ext cx="4297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2468880"/>
            <a:ext cx="164592" cy="164592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14" name="Text 12"/>
          <p:cNvSpPr/>
          <p:nvPr/>
        </p:nvSpPr>
        <p:spPr>
          <a:xfrm>
            <a:off x="2852928" y="2377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視覚 1文字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06040" y="2926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78字・時間変化提示 0.2秒・frac ゲート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903720" y="2148840"/>
            <a:ext cx="4297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78040" y="2468880"/>
            <a:ext cx="164592" cy="164592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18" name="Text 16"/>
          <p:cNvSpPr/>
          <p:nvPr/>
        </p:nvSpPr>
        <p:spPr>
          <a:xfrm>
            <a:off x="7470648" y="2377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視覚 2文字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223760" y="2926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78字対・前の文字は一瞬で消去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2286000" y="4160520"/>
            <a:ext cx="4297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0" y="4480560"/>
            <a:ext cx="164592" cy="164592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22" name="Text 20"/>
          <p:cNvSpPr/>
          <p:nvPr/>
        </p:nvSpPr>
        <p:spPr>
          <a:xfrm>
            <a:off x="2852928" y="4389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聴覚 1文字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606040" y="4937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72字・B3・truncation（発話先頭）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903720" y="4160520"/>
            <a:ext cx="4297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78040" y="4480560"/>
            <a:ext cx="164592" cy="164592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26" name="Text 24"/>
          <p:cNvSpPr/>
          <p:nvPr/>
        </p:nvSpPr>
        <p:spPr>
          <a:xfrm>
            <a:off x="7470648" y="4389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聴覚 2文字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23760" y="4937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72×72=5184対・B3→E4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286000" y="5989320"/>
            <a:ext cx="891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90A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提示速度は競技かるたの規定で1文字0.2秒。音高は1文字目 B3・2文字目 E4 に固定。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AUDITORY STIMULI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聴覚刺激 — 発話を途中で止めて出す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02920" cy="41148"/>
          </a:xfrm>
          <a:prstGeom prst="rect">
            <a:avLst/>
          </a:prstGeom>
          <a:solidFill>
            <a:srgbClr val="C8A44D"/>
          </a:solidFill>
          <a:ln/>
        </p:spPr>
      </p:sp>
      <p:sp>
        <p:nvSpPr>
          <p:cNvPr id="5" name="Text 3"/>
          <p:cNvSpPr/>
          <p:nvPr/>
        </p:nvSpPr>
        <p:spPr>
          <a:xfrm>
            <a:off x="103628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iFont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</a:t>
            </a:r>
            <a:endParaRPr lang="en-US" sz="1000" dirty="0"/>
          </a:p>
        </p:txBody>
      </p:sp>
      <p:pic>
        <p:nvPicPr>
          <p:cNvPr id="7" name="Image 0" descr="/private/tmp/claude-501/-Users-kurihara-Library-CloudStorage-GoogleDrive-qurihara-gmail-com--------share-google-desktop-share/0a1ebcb0-4b09-4e57-b801-3ba115d17474/scratchpad/slides/assets/fig_au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48678"/>
            <a:ext cx="7315200" cy="270344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4983480"/>
            <a:ext cx="7315200" cy="1234440"/>
          </a:xfrm>
          <a:prstGeom prst="roundRect">
            <a:avLst>
              <a:gd name="adj" fmla="val 6667"/>
            </a:avLst>
          </a:prstGeom>
          <a:solidFill>
            <a:srgbClr val="F7F3E9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512064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2文字目を frac%（0〜100%）まで再生して識別させる。frac が小さいほど手掛かりが少ない。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0" y="1554480"/>
            <a:ext cx="3322015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58200" y="1883664"/>
            <a:ext cx="384048" cy="384048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2" name="Text 9"/>
          <p:cNvSpPr/>
          <p:nvPr/>
        </p:nvSpPr>
        <p:spPr>
          <a:xfrm>
            <a:off x="845820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00684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合成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006840" y="2066544"/>
            <a:ext cx="2316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VOICEVOX 0.25.2・四国めたん。REST API で無人生成。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0" y="2734056"/>
            <a:ext cx="3322015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458200" y="3063240"/>
            <a:ext cx="384048" cy="384048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7" name="Text 14"/>
          <p:cNvSpPr/>
          <p:nvPr/>
        </p:nvSpPr>
        <p:spPr>
          <a:xfrm>
            <a:off x="845820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06840" y="2916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音高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9006840" y="3246120"/>
            <a:ext cx="2316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1文字目 B3(247Hz)・2文字目 E4(330Hz) に固定・実測補正。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229600" y="3913632"/>
            <a:ext cx="3322015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58200" y="4242816"/>
            <a:ext cx="384048" cy="384048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22" name="Text 19"/>
          <p:cNvSpPr/>
          <p:nvPr/>
        </p:nvSpPr>
        <p:spPr>
          <a:xfrm>
            <a:off x="845820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006840" y="4096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ゲート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9006840" y="4425696"/>
            <a:ext cx="2316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再生時にブラウザ側で truncation。frac は実行時に可変。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229600" y="5093208"/>
            <a:ext cx="3322015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458200" y="5422392"/>
            <a:ext cx="384048" cy="384048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27" name="Text 24"/>
          <p:cNvSpPr/>
          <p:nvPr/>
        </p:nvSpPr>
        <p:spPr>
          <a:xfrm>
            <a:off x="845820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006840" y="5276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合図音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9006840" y="5605272"/>
            <a:ext cx="2316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開始は1回・終了は2回のビープで、提示の始終を伝える。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VISUAL STIMULI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視覚刺激 — 0.2秒で認識度が上がる提示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02920" cy="41148"/>
          </a:xfrm>
          <a:prstGeom prst="rect">
            <a:avLst/>
          </a:prstGeom>
          <a:solidFill>
            <a:srgbClr val="C8A44D"/>
          </a:solidFill>
          <a:ln/>
        </p:spPr>
      </p:sp>
      <p:sp>
        <p:nvSpPr>
          <p:cNvPr id="5" name="Text 3"/>
          <p:cNvSpPr/>
          <p:nvPr/>
        </p:nvSpPr>
        <p:spPr>
          <a:xfrm>
            <a:off x="103628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iFont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</a:t>
            </a:r>
            <a:endParaRPr lang="en-US" sz="1000" dirty="0"/>
          </a:p>
        </p:txBody>
      </p:sp>
      <p:pic>
        <p:nvPicPr>
          <p:cNvPr id="7" name="Image 0" descr="/private/tmp/claude-501/-Users-kurihara-Library-CloudStorage-GoogleDrive-qurihara-gmail-com--------share-google-desktop-share/0a1ebcb0-4b09-4e57-b801-3ba115d17474/scratchpad/slides/assets/fig_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168" y="1600200"/>
            <a:ext cx="6900464" cy="4023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7150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90A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実際の刺激。base 画像からブラウザ側で合成。左ほど不明瞭、右ほど明瞭。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75320" y="1600200"/>
            <a:ext cx="3276295" cy="4572000"/>
          </a:xfrm>
          <a:prstGeom prst="roundRect">
            <a:avLst>
              <a:gd name="adj" fmla="val 2512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9536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採用する3つの提示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595360" y="2359152"/>
            <a:ext cx="146304" cy="146304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12" name="Text 9"/>
          <p:cNvSpPr/>
          <p:nvPr/>
        </p:nvSpPr>
        <p:spPr>
          <a:xfrm>
            <a:off x="8842248" y="22768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fade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842248" y="2587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透明度が上がる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595360" y="3136392"/>
            <a:ext cx="146304" cy="146304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15" name="Text 12"/>
          <p:cNvSpPr/>
          <p:nvPr/>
        </p:nvSpPr>
        <p:spPr>
          <a:xfrm>
            <a:off x="8842248" y="30540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blur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842248" y="3364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ぼかしが解ける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595360" y="3913632"/>
            <a:ext cx="146304" cy="146304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18" name="Text 15"/>
          <p:cNvSpPr/>
          <p:nvPr/>
        </p:nvSpPr>
        <p:spPr>
          <a:xfrm>
            <a:off x="8842248" y="38313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moya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842248" y="4142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全字の重畳から絞り込む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595360" y="4709160"/>
            <a:ext cx="2636215" cy="0"/>
          </a:xfrm>
          <a:prstGeom prst="line">
            <a:avLst/>
          </a:prstGeom>
          <a:noFill/>
          <a:ln w="12700">
            <a:solidFill>
              <a:srgbClr val="E1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95360" y="4892040"/>
            <a:ext cx="26362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固定領域に0.2秒ずつ提示。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次の文字に移るとき前の文字は一瞬で消去（残像が測定対象）。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DESIGN PIVOT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設計改訂 — 早押しクイズへの一般化（2026-07-02）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02920" cy="41148"/>
          </a:xfrm>
          <a:prstGeom prst="rect">
            <a:avLst/>
          </a:prstGeom>
          <a:solidFill>
            <a:srgbClr val="C8A44D"/>
          </a:solidFill>
          <a:ln/>
        </p:spPr>
      </p:sp>
      <p:sp>
        <p:nvSpPr>
          <p:cNvPr id="5" name="Text 3"/>
          <p:cNvSpPr/>
          <p:nvPr/>
        </p:nvSpPr>
        <p:spPr>
          <a:xfrm>
            <a:off x="103628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iFont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4864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112264"/>
            <a:ext cx="384048" cy="384048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9751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語彙を限定しない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463040" y="23042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競技かるたの語彙に縛らず、1文字目も2文字目もランダムな文字にする。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907792"/>
            <a:ext cx="54864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96112" y="3191256"/>
            <a:ext cx="384048" cy="384048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0540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視覚も2文字に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46304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視覚・聴覚とも2文字目を当てる課題に統一。時間変化提示にする。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986784"/>
            <a:ext cx="54864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" y="4270248"/>
            <a:ext cx="384048" cy="384048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133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提示の規定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463040" y="44622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1文字0.2秒。音高は1文字目 B3・2文字目 E4 に固定。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065776"/>
            <a:ext cx="54864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6112" y="5349240"/>
            <a:ext cx="384048" cy="384048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独立変数を整理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463040" y="55412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音程上昇のあり・なしという独立変数は廃止（固定輪郭に統一）。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92240" y="1828800"/>
            <a:ext cx="5059375" cy="4315968"/>
          </a:xfrm>
          <a:prstGeom prst="roundRect">
            <a:avLst>
              <a:gd name="adj" fmla="val 1907"/>
            </a:avLst>
          </a:prstGeom>
          <a:solidFill>
            <a:srgbClr val="1E2A5E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84848" y="2084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方法論の立場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84848" y="2487168"/>
            <a:ext cx="4343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恒常法を採用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7D0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固定した刺激水準をランダム順で繰り返し、シグモイド関数を当てる。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適応法（QUEST 等）は不採用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7D0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閾値1点ではなく曲線全体を推定したい。即時採点はクラウドソーシングと相性が悪い。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9FB0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1人200試行を大勢で併合し、集団平均の曲線を得る。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KEY DECISION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大方針 — 「単音だけ路線」を主軸に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0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フォントを最初から単音だけで構成し、使うときも前の文字の影響を受けない読み方をする。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30352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利点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成果物 g（文脈なしかなの対応）をそのまま設計原理にできる</a:t>
            </a:r>
            <a:endParaRPr lang="en-US" sz="14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視覚も単音なので、2つのモダリティが対称になる</a:t>
            </a:r>
            <a:endParaRPr lang="en-US" sz="14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1文字1対応で覚えればよく、利用者が学びやすい</a:t>
            </a:r>
            <a:endParaRPr lang="en-US" sz="14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共調音による同化（弁別の劣化）を避けられる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468880"/>
            <a:ext cx="5242255" cy="3566160"/>
          </a:xfrm>
          <a:prstGeom prst="roundRect">
            <a:avLst>
              <a:gd name="adj" fmla="val 2308"/>
            </a:avLst>
          </a:prstGeom>
          <a:solidFill>
            <a:srgbClr val="F7F3E9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B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代償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75120" y="3200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流暢さ・自然さ・速さを失う（約1.5倍長くなる）</a:t>
            </a:r>
            <a:endParaRPr lang="en-US" sz="14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実際の競技かるた音声（共調音あり）との差が残る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47548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6B5A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2文字課題は「どれだけ共調音を捨てているか」を見積もる検証として残す。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VALIDATION 1 · BIGRAM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検証① 百人一首のかな連接は一般日本語をどれだけ覆うか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02920" cy="41148"/>
          </a:xfrm>
          <a:prstGeom prst="rect">
            <a:avLst/>
          </a:prstGeom>
          <a:solidFill>
            <a:srgbClr val="C8A44D"/>
          </a:solidFill>
          <a:ln/>
        </p:spPr>
      </p:sp>
      <p:sp>
        <p:nvSpPr>
          <p:cNvPr id="5" name="Text 3"/>
          <p:cNvSpPr/>
          <p:nvPr/>
        </p:nvSpPr>
        <p:spPr>
          <a:xfrm>
            <a:off x="103628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iFont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</a:t>
            </a:r>
            <a:endParaRPr lang="en-US" sz="1000" dirty="0"/>
          </a:p>
        </p:txBody>
      </p:sp>
      <p:pic>
        <p:nvPicPr>
          <p:cNvPr id="7" name="Image 0" descr="/private/tmp/claude-501/-Users-kurihara-Library-CloudStorage-GoogleDrive-qurihara-gmail-com--------share-google-desktop-share/0a1ebcb0-4b09-4e57-b801-3ba115d17474/scratchpad/slides/assets/fig_bi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3298"/>
            <a:ext cx="5577840" cy="32114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92240" y="1691640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実読み（Kikiwake）で作れる2文字課題の射程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92240" y="2194560"/>
            <a:ext cx="5059375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12280" y="2331720"/>
            <a:ext cx="4419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99.9%</a:t>
            </a:r>
            <a:pPr indent="0" marL="0">
              <a:buNone/>
            </a:pPr>
            <a:r>
              <a:rPr lang="en-US" sz="13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妥当性（現代語でも観測される割合）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492240" y="3383280"/>
            <a:ext cx="5059375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12280" y="3520440"/>
            <a:ext cx="4419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41〜53%</a:t>
            </a:r>
            <a:pPr indent="0" marL="0">
              <a:buNone/>
            </a:pPr>
            <a:r>
              <a:rPr lang="en-US" sz="13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一般日本語の連接の出現被覆率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6492240" y="4572000"/>
            <a:ext cx="5059375" cy="1645920"/>
          </a:xfrm>
          <a:prstGeom prst="roundRect">
            <a:avLst>
              <a:gd name="adj" fmla="val 5000"/>
            </a:avLst>
          </a:prstGeom>
          <a:solidFill>
            <a:srgbClr val="F7F3E9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1228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B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取りこぼしには偏り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12280" y="5120640"/>
            <a:ext cx="44192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促音（った・って）、口語の活用（です・ます）、漢語の拗音（じょ・しょ）に集中。実読みだけでは原理的に埋まらない → 歌声合成を主軸にする根拠。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VALIDATION 2 · COARTICULATION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検証② 共調音の網羅解析 — 単音で足りるか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02920" cy="41148"/>
          </a:xfrm>
          <a:prstGeom prst="rect">
            <a:avLst/>
          </a:prstGeom>
          <a:solidFill>
            <a:srgbClr val="C8A44D"/>
          </a:solidFill>
          <a:ln/>
        </p:spPr>
      </p:sp>
      <p:sp>
        <p:nvSpPr>
          <p:cNvPr id="5" name="Text 3"/>
          <p:cNvSpPr/>
          <p:nvPr/>
        </p:nvSpPr>
        <p:spPr>
          <a:xfrm>
            <a:off x="103628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iFont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48785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48840"/>
            <a:ext cx="22135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25B4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は・へ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21220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助詞読み /wa//e/ の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合成バグを発見・修正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47974" y="1783080"/>
            <a:ext cx="248785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85134" y="2148840"/>
            <a:ext cx="22135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A5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8.47 &gt; 5.60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630854" y="2880360"/>
            <a:ext cx="21220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単独→語中の系統差は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文字間の差より大きい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55868" y="1783080"/>
            <a:ext cx="248785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93028" y="2148840"/>
            <a:ext cx="22135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8A44D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16%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438748" y="2880360"/>
            <a:ext cx="21220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音高・輪郭を固定しても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前の文字で別字に寄る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63761" y="1783080"/>
            <a:ext cx="248785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00921" y="2148840"/>
            <a:ext cx="22135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E7D8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お=を 他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246641" y="2880360"/>
            <a:ext cx="21220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本物の同音異字が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存在する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10911535" cy="2103120"/>
          </a:xfrm>
          <a:prstGeom prst="roundRect">
            <a:avLst>
              <a:gd name="adj" fmla="val 3913"/>
            </a:avLst>
          </a:prstGeom>
          <a:solidFill>
            <a:srgbClr val="1E2A5E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84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475488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語中の2文字目は、単独の1文字とは系統的にも共調音でも大きく違う。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7D0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単音は語中の発音を代表できない = 2文字課題をやるべき方向を音響的に支持する。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FB0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必要性がとくに高いのは、濁音・母音・半母音。1文字課題は発話先頭のベースラインとして残す。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VALIDATION 3 · MCD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検証③ 単音と流暢発音の乖離を MCD＋DTW で網羅計算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02920" cy="41148"/>
          </a:xfrm>
          <a:prstGeom prst="rect">
            <a:avLst/>
          </a:prstGeom>
          <a:solidFill>
            <a:srgbClr val="C8A44D"/>
          </a:solidFill>
          <a:ln/>
        </p:spPr>
      </p:sp>
      <p:sp>
        <p:nvSpPr>
          <p:cNvPr id="5" name="Text 3"/>
          <p:cNvSpPr/>
          <p:nvPr/>
        </p:nvSpPr>
        <p:spPr>
          <a:xfrm>
            <a:off x="103628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iFont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Image 0" descr="/private/tmp/claude-501/-Users-kurihara-Library-CloudStorage-GoogleDrive-qurihara-gmail-com--------share-google-desktop-share/0a1ebcb0-4b09-4e57-b801-3ba115d17474/scratchpad/slides/assets/fig_mcd_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280" y="1600200"/>
            <a:ext cx="6177280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3035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0A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音素クラス別の乖離（母音・撥音・有声音で大、無声破裂・破擦で小）</a:t>
            </a:r>
            <a:endParaRPr lang="en-US" sz="1200" dirty="0"/>
          </a:p>
        </p:txBody>
      </p:sp>
      <p:pic>
        <p:nvPicPr>
          <p:cNvPr id="9" name="Image 1" descr="/private/tmp/claude-501/-Users-kurihara-Library-CloudStorage-GoogleDrive-qurihara-gmail-com--------share-google-desktop-share/0a1ebcb0-4b09-4e57-b801-3ba115d17474/scratchpad/slides/assets/fig_mcd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701667"/>
            <a:ext cx="4053535" cy="208306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98080" y="4160520"/>
            <a:ext cx="4053535" cy="2011680"/>
          </a:xfrm>
          <a:prstGeom prst="roundRect">
            <a:avLst>
              <a:gd name="adj" fmla="val 4091"/>
            </a:avLst>
          </a:prstGeom>
          <a:solidFill>
            <a:srgbClr val="F7F3E9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818120" y="4343400"/>
            <a:ext cx="34134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C25B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約2倍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同じかなの「単音 対 語中」の乖離(15.5)は、別のかなどうしの違い(8.2)の約2倍。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VALIDATION 4 · RISE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検証④ 上昇輪郭（B3→E4）の寄与を切り分ける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02920" cy="41148"/>
          </a:xfrm>
          <a:prstGeom prst="rect">
            <a:avLst/>
          </a:prstGeom>
          <a:solidFill>
            <a:srgbClr val="C8A44D"/>
          </a:solidFill>
          <a:ln/>
        </p:spPr>
      </p:sp>
      <p:sp>
        <p:nvSpPr>
          <p:cNvPr id="5" name="Text 3"/>
          <p:cNvSpPr/>
          <p:nvPr/>
        </p:nvSpPr>
        <p:spPr>
          <a:xfrm>
            <a:off x="103628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iFont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</a:t>
            </a:r>
            <a:endParaRPr lang="en-US" sz="1000" dirty="0"/>
          </a:p>
        </p:txBody>
      </p:sp>
      <p:pic>
        <p:nvPicPr>
          <p:cNvPr id="7" name="Image 0" descr="/private/tmp/claude-501/-Users-kurihara-Library-CloudStorage-GoogleDrive-qurihara-gmail-com--------share-google-desktop-share/0a1ebcb0-4b09-4e57-b801-3ba115d17474/scratchpad/slides/assets/fig_r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94753"/>
            <a:ext cx="7680960" cy="32684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257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0A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輪郭だけを平坦 E4→E4 にした2文字目と比べる（575対サンプル）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549640" y="1691640"/>
            <a:ext cx="3001975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823960" y="1965960"/>
            <a:ext cx="2453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2.7</a:t>
            </a:r>
            <a:endParaRPr lang="en-US" sz="3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上昇輪郭の寄与</a:t>
            </a:r>
            <a:endParaRPr lang="en-US" sz="3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（全乖離15.5の約2割）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8549640" y="3977640"/>
            <a:ext cx="3001975" cy="2194560"/>
          </a:xfrm>
          <a:prstGeom prst="roundRect">
            <a:avLst>
              <a:gd name="adj" fmla="val 3750"/>
            </a:avLst>
          </a:prstGeom>
          <a:solidFill>
            <a:srgbClr val="1E2A5E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82396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含意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823960" y="4526280"/>
            <a:ext cx="24533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DE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乖離の大半は輪郭ではなく共調音と位置の違い。単音と語中の比較はおおむねフェアだと数値で確かめられた。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VALIDATION 5 · INTENSITY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視覚の提示アルゴリズムを刺激の強さで絞る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02920" cy="41148"/>
          </a:xfrm>
          <a:prstGeom prst="rect">
            <a:avLst/>
          </a:prstGeom>
          <a:solidFill>
            <a:srgbClr val="C8A44D"/>
          </a:solidFill>
          <a:ln/>
        </p:spPr>
      </p:sp>
      <p:sp>
        <p:nvSpPr>
          <p:cNvPr id="5" name="Text 3"/>
          <p:cNvSpPr/>
          <p:nvPr/>
        </p:nvSpPr>
        <p:spPr>
          <a:xfrm>
            <a:off x="103628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iFont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Image 0" descr="/private/tmp/claude-501/-Users-kurihara-Library-CloudStorage-GoogleDrive-qurihara-gmail-com--------share-google-desktop-share/0a1ebcb0-4b09-4e57-b801-3ba115d17474/scratchpad/slides/assets/fig_intens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9846"/>
            <a:ext cx="6949440" cy="40983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0" y="1737360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7種を測って3種に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863840" y="2240280"/>
            <a:ext cx="3687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各アルゴリズムを実際に描画し、ざらつき・動き・変化量を78字平均で測った。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63840" y="3108960"/>
            <a:ext cx="3687775" cy="1051560"/>
          </a:xfrm>
          <a:prstGeom prst="roundRect">
            <a:avLst>
              <a:gd name="adj" fmla="val 7826"/>
            </a:avLst>
          </a:prstGeom>
          <a:solidFill>
            <a:srgbClr val="F7F3E9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138160" y="3200400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D1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採用  </a:t>
            </a:r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fade / blur / moya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38160" y="361188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3軸すべて穏やか。目の疲労が小さい。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863840" y="4297680"/>
            <a:ext cx="3687775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138160" y="4389120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B4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除外  </a:t>
            </a:r>
            <a:pPr indent="0" marL="0">
              <a:buNone/>
            </a:pPr>
            <a:r>
              <a:rPr lang="en-US" sz="1600" b="1" dirty="0">
                <a:solidFill>
                  <a:srgbClr val="C25B4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stroke / slide / zoom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38160" y="480060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stroke はざらつき、slide・zoom は速い動きで刺激が強い。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863840" y="5486400"/>
            <a:ext cx="3687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A90A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裏づけ: 1/f 逸脱による視覚的不快感（Fernandez &amp; Wilkins 2008）。実装は7種すべて残す。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現状 — 何ができていて、何が残っているか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02920" cy="41148"/>
          </a:xfrm>
          <a:prstGeom prst="rect">
            <a:avLst/>
          </a:prstGeom>
          <a:solidFill>
            <a:srgbClr val="C8A44D"/>
          </a:solidFill>
          <a:ln/>
        </p:spPr>
      </p:sp>
      <p:sp>
        <p:nvSpPr>
          <p:cNvPr id="5" name="Text 3"/>
          <p:cNvSpPr/>
          <p:nvPr/>
        </p:nvSpPr>
        <p:spPr>
          <a:xfrm>
            <a:off x="103628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iFont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5321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完了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395728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✓"/>
            </a:pPr>
            <a:r>
              <a:rPr lang="en-US" sz="13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聴覚プールを本番 salt で作り直し（は・へ修正込み）</a:t>
            </a:r>
            <a:endParaRPr lang="en-US" sz="1350" dirty="0"/>
          </a:p>
          <a:p>
            <a:pPr marL="203200" indent="-203200">
              <a:lnSpc>
                <a:spcPct val="150000"/>
              </a:lnSpc>
              <a:buSzPct val="100000"/>
              <a:buChar char="✓"/>
            </a:pPr>
            <a:r>
              <a:rPr lang="en-US" sz="13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1文字72字・2文字72×72=5184対、F0 品質確認済み</a:t>
            </a:r>
            <a:endParaRPr lang="en-US" sz="1350" dirty="0"/>
          </a:p>
          <a:p>
            <a:pPr marL="203200" indent="-203200">
              <a:lnSpc>
                <a:spcPct val="150000"/>
              </a:lnSpc>
              <a:buSzPct val="100000"/>
              <a:buChar char="✓"/>
            </a:pPr>
            <a:r>
              <a:rPr lang="en-US" sz="13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単音と流暢発音の乖離を MCD＋DTW で網羅計算</a:t>
            </a:r>
            <a:endParaRPr lang="en-US" sz="1350" dirty="0"/>
          </a:p>
          <a:p>
            <a:pPr marL="203200" indent="-203200">
              <a:lnSpc>
                <a:spcPct val="150000"/>
              </a:lnSpc>
              <a:buSzPct val="100000"/>
              <a:buChar char="✓"/>
            </a:pPr>
            <a:r>
              <a:rPr lang="en-US" sz="13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上昇輪郭の寄与を切り分け（全乖離の約2割）</a:t>
            </a:r>
            <a:endParaRPr lang="en-US" sz="1350" dirty="0"/>
          </a:p>
          <a:p>
            <a:pPr marL="203200" indent="-203200">
              <a:lnSpc>
                <a:spcPct val="150000"/>
              </a:lnSpc>
              <a:buSzPct val="100000"/>
              <a:buChar char="✓"/>
            </a:pPr>
            <a:r>
              <a:rPr lang="en-US" sz="13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視覚アルゴリズムを fade/blur/moya に絞る</a:t>
            </a:r>
            <a:endParaRPr lang="en-US" sz="1350" dirty="0"/>
          </a:p>
          <a:p>
            <a:pPr marL="203200" indent="-203200">
              <a:lnSpc>
                <a:spcPct val="150000"/>
              </a:lnSpc>
              <a:buSzPct val="100000"/>
              <a:buChar char="✓"/>
            </a:pPr>
            <a:r>
              <a:rPr lang="en-US" sz="135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4コミットを GitHub へ push 済み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37960" y="1737360"/>
            <a:ext cx="5013655" cy="4480560"/>
          </a:xfrm>
          <a:prstGeom prst="roundRect">
            <a:avLst>
              <a:gd name="adj" fmla="val 1837"/>
            </a:avLst>
          </a:prstGeom>
          <a:solidFill>
            <a:srgbClr val="F7F3E9"/>
          </a:solidFill>
          <a:ln w="12700">
            <a:solidFill>
              <a:srgbClr val="E1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037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B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残り（ユーザーの操作・判断）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903720" y="2514600"/>
            <a:ext cx="146304" cy="146304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13" name="Text 11"/>
          <p:cNvSpPr/>
          <p:nvPr/>
        </p:nvSpPr>
        <p:spPr>
          <a:xfrm>
            <a:off x="7150608" y="24140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GAS デプロイ・SUBMIT_URL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50608" y="27432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 アカウントと発行 URL が必要（貼付用 answer_key は用意済み）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3611880"/>
            <a:ext cx="146304" cy="146304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16" name="Text 14"/>
          <p:cNvSpPr/>
          <p:nvPr/>
        </p:nvSpPr>
        <p:spPr>
          <a:xfrm>
            <a:off x="7150608" y="35112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noindex の解除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150608" y="38404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実験ページを公開する入り口。本公開の判断が必要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4709160"/>
            <a:ext cx="146304" cy="146304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19" name="Text 17"/>
          <p:cNvSpPr/>
          <p:nvPr/>
        </p:nvSpPr>
        <p:spPr>
          <a:xfrm>
            <a:off x="7150608" y="46085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視覚パイロットで最終確認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150608" y="493776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8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fade/blur/moya を PI が体感して決める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03720" y="5532120"/>
            <a:ext cx="4480560" cy="0"/>
          </a:xfrm>
          <a:prstGeom prst="line">
            <a:avLst/>
          </a:prstGeom>
          <a:noFill/>
          <a:ln w="12700">
            <a:solidFill>
              <a:srgbClr val="E1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5669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5A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本実験の開始ゲートは倫理審査の承認（審議待ち・7/15）。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1371600"/>
            <a:ext cx="5029200" cy="5029200"/>
          </a:xfrm>
          <a:prstGeom prst="ellipse">
            <a:avLst/>
          </a:prstGeom>
          <a:solidFill>
            <a:srgbClr val="43539A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まとめと次の一歩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84048" cy="384048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23957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560320" y="23957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4E9F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単音だけ路線を主軸に。視覚と聴覚を対称にし、共調音の劣化を避ける。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07008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実装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560320" y="33101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4E9F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は・へ修正込みの聴覚プールが完成。そのまま本実験に出せる状態。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384048" cy="384048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07008" y="4224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検証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560320" y="42245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4E9F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カバー率・共調音・MCD 乖離・上昇輪郭・刺激強度を数値で裏づけ済み。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384048" cy="384048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07008" y="51389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4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560320" y="5138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4E9F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倫理審査の承認後に本実験を公開。視覚は3アルゴリズムをパイロットで最終決定。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github.com/qurihara/iFont　／　scrapbox.io/qurihara/iFont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iFont — 全体像と現状</dc:title>
  <dc:subject>PptxGenJS Presentation</dc:subject>
  <dc:creator>iFont project</dc:creator>
  <cp:lastModifiedBy>iFont project</cp:lastModifiedBy>
  <cp:revision>1</cp:revision>
  <dcterms:created xsi:type="dcterms:W3CDTF">2026-07-03T23:12:39Z</dcterms:created>
  <dcterms:modified xsi:type="dcterms:W3CDTF">2026-07-03T23:12:39Z</dcterms:modified>
</cp:coreProperties>
</file>