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インクルーシブ字幕プロジェクト — 全体像と現状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E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音声で識別する情報を、視覚の字幕で「同じ時点に同じだけ分かる」ように届ける。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E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核は、かな1文字の視覚と聴覚の明瞭度を同一の認識率で対応づける変換 g。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2026-07-13  現状まとめ（260704版を全面更新）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532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github.com/qurihara/iFont  /  scrapbox.io/qurihara/iFont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 — なぜ「公平な字幕」なのか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347472" cy="347472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" y="20391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93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耳で取る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競技かるたは、読み上げ音声を聞いて「どの歌か」を識別する競技。音が届くにつれて候補が絞られる。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057400"/>
            <a:ext cx="347472" cy="34747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1" name="Text 9"/>
          <p:cNvSpPr/>
          <p:nvPr/>
        </p:nvSpPr>
        <p:spPr>
          <a:xfrm>
            <a:off x="4745736" y="20391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1993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目で取る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26974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聴覚に頼れない人には字幕で同じ情報を届けたい。だが普通の字幕は瞬時に全部見えてしまう。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0" y="17373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32520" y="2057400"/>
            <a:ext cx="347472" cy="347472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6" name="Text 14"/>
          <p:cNvSpPr/>
          <p:nvPr/>
        </p:nvSpPr>
        <p:spPr>
          <a:xfrm>
            <a:off x="8677656" y="20391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35440" y="19933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公平さ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32520" y="26974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耳と目で「同じ時点に同じだけ分かる」ように、字幕の見え方を時間で設計する。これがインクルーシブ字幕。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5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設計目標  </a:t>
            </a:r>
            <a:pPr indent="0" marL="0">
              <a:buNone/>
            </a:pPr>
            <a:r>
              <a:rPr lang="en-US" sz="15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視覚だけを見ている人の「札の識別が進む曲線」が、音声を聞いている人のそれと一致すること。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中核 — 文字単位の対応づけ「変換 g」に一本化</a:t>
            </a:r>
            <a:endParaRPr lang="en-US" sz="2700" dirty="0"/>
          </a:p>
        </p:txBody>
      </p:sp>
      <p:pic>
        <p:nvPicPr>
          <p:cNvPr id="4" name="Image 0" descr="/Users/kurihara/Library/CloudStorage/GoogleDrive-qurihara@gmail.com/マイドライブ/share/google_desktop_share/iFont/paper/figs/fig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00200"/>
            <a:ext cx="9052560" cy="30723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92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変換 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28523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かな1文字の「見え方」と「聞こえ方」を、同一の認識率の物差しで対応づける。本実験で実測する。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80560" y="4892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一意化は設計しない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528523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どこまで届けば札が決まるかは決まり字のコーパスから定まり、耳でも目でも共通。既存の分析を借りるだけ。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0" y="4892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5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平易化 (7/10)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0" y="528523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旧「2階建てモデル・識別F」という枠組みは廃止。論文を変換 g 中心に大改稿し、説明を平易にした。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PIVOTS (JULY 2026)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7月の3つの大きな方針転換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347472" cy="347472"/>
          </a:xfrm>
          <a:prstGeom prst="ellipse">
            <a:avLst/>
          </a:prstGeom>
          <a:solidFill>
            <a:srgbClr val="1E2A5E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" y="20391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933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枠組みの平易化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識別F・2階建てモデルを撤去し、変換 g に一本化。5章は疑似データによる「想定結果版」として結果の体裁で執筆。著者は丸山・栗原。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論文を大改稿・push済み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057400"/>
            <a:ext cx="347472" cy="34747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0391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9933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音程は一定 (モノトーン)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実験は単一の一定音高で統制。話者正規化により音素同定はF0の広い変動に頑健で、一定音高で測った g は音高を変えた実用にも生きる。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4983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かるた実用では音高を自由に設計してよい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173736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2057400"/>
            <a:ext cx="347472" cy="347472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8" name="Text 16"/>
          <p:cNvSpPr/>
          <p:nvPr/>
        </p:nvSpPr>
        <p:spPr>
          <a:xfrm>
            <a:off x="8677656" y="20391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19933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提示速度を独立変数に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732520" y="28346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0.2秒/文字の固定をやめ、露出時間Dと文字間SOAを掃引。「前の文字の影響が消える臨界SOA」を実測し、単純合成の成立条件を決める。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32520" y="4983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0.2秒は干渉領域という見立て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MONOTONE RATIONALE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音程一定の根拠 — 文献と、ツールへの帰結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文献的根拠（論文 3.4節・参考文献[24]-[30]）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話者正規化: 音素の同定は声の高さの広い変動に頑健 (Peterson &amp; Barney; Ladefoged &amp; Broadbent; Sjerps+)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平坦なF0は自然な抑揚と比べ明瞭度を損なわない (Clarke+ 2017)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頂点母音 /i//a//u/ は高F0でも同定可 (Friedrichs+ 2025)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単一モーラの孤立提示ではピッチアクセント対立が成立せず、F0は音素同定を担わない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25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留保: F1-F0距離が母音の高さ知覚に小さく影響 → 全刺激で同一F0に固定して相殺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帰結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 = モノトーンで厳密に g を測る（音高の交絡なし）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実用 = 音高を自由に設計してよい（かるたの詠み等）。一定音高で測った g がそのまま生きる = 外的妥当性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公開ツールは --pitch で1文字ごとに音高指定可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29400" y="4297680"/>
            <a:ext cx="4663440" cy="1280160"/>
          </a:xfrm>
          <a:prstGeom prst="roundRect">
            <a:avLst>
              <a:gd name="adj" fmla="val 4286"/>
            </a:avLst>
          </a:prstGeom>
          <a:solidFill>
            <a:srgbClr val="1E2A5E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44348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ifont-render --text "ちはやふる"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--pitch "B3,E4,G4,E4,C4" --speed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提示タイミング — 単文字の飽和と臨界SOA（想定結果）</a:t>
            </a:r>
            <a:endParaRPr lang="en-US" sz="2700" dirty="0"/>
          </a:p>
        </p:txBody>
      </p:sp>
      <p:pic>
        <p:nvPicPr>
          <p:cNvPr id="4" name="Image 0" descr="/Users/kurihara/Library/CloudStorage/GoogleDrive-qurihara@gmail.com/マイドライブ/share/google_desktop_share/iFont/paper/figs/fig_dur_s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40680" cy="3383280"/>
          </a:xfrm>
          <a:prstGeom prst="rect">
            <a:avLst/>
          </a:prstGeom>
        </p:spPr>
      </p:pic>
      <p:pic>
        <p:nvPicPr>
          <p:cNvPr id="5" name="Image 1" descr="/Users/kurihara/Library/CloudStorage/GoogleDrive-qurihara@gmail.com/マイドライブ/share/google_desktop_share/iFont/paper/figs/fig_interfer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212080" cy="33741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1文字の識別は露出時間とともに上がり約260msで飽和（利用時間）。 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干渉指標 I(S)=実測−単文字合成予測。臨界SOA（視覚≈400ms・聴覚≈320ms）以上で単純合成が成立。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かるたの規定 0.2秒/文字 は臨界SOAより速い=干渉領域。だからかるた版は2文字課題（文脈込みのg）で作る。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EXPERIMENT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実験の再設計 — 二段階で実施する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第1段階  較正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視覚A: フル鮮明の露出掃引 (14)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視覚B: 2文字SOA掃引 (18)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聴覚B: 2文字SOA掃引 (18)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聴覚Aは聴覚1文字fracに兼用（時間そのものの操作のため）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計50セッション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69080" y="3383280"/>
            <a:ext cx="777240" cy="502920"/>
          </a:xfrm>
          <a:prstGeom prst="rightArrow">
            <a:avLst/>
          </a:prstGeom>
          <a:solidFill>
            <a:srgbClr val="C8A44D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65176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66360" y="324612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0.2秒は臨界SOAに対して干渉あり側か？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3383280"/>
            <a:ext cx="777240" cy="502920"/>
          </a:xfrm>
          <a:prstGeom prst="rightArrow">
            <a:avLst/>
          </a:prstGeom>
          <a:solidFill>
            <a:srgbClr val="C8A4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169164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第2段階  frac (gの実測)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聴覚1文字36・聴覚2文字36 — 共調音があるため干渉によらず両方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視覚1文字36 (fade・blurの2種に絞り、1提示法あたり1.5倍のデータ量)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干渉ありなら + 視覚2文字36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moya・モーフィングは測定せず実装・デモとして公開(今後の課題)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03920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最大144セッション+予備6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 — 最悪ケースでも総額10万円以下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377440"/>
                <a:gridCol w="237744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系列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セッション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費用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第1段階: 視覚A / 視覚B / 聴覚B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 / 18 / 18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25,000円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第2段階: 聴覚1文字(A兼用) / 聴覚2文字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36 / 36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36,000円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第2段階: 視覚1文字 / 視覚2文字(干渉時のみ)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36 / 36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36,000円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予備 (除外補充・再走)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 (最悪ケース)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8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25B4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100,000円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単価: </a:t>
            </a:r>
            <a:pPr indent="0" marL="0">
              <a:buNone/>
            </a:pPr>
            <a:r>
              <a:rPr lang="en-US" sz="13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1セッション = 約200試行・約20分・報酬450円（手数料込み約500円）。  </a:t>
            </a:r>
            <a:pPr indent="0" marL="0">
              <a:buNone/>
            </a:pPr>
            <a:r>
              <a:rPr lang="en-US" sz="135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干渉なしの場合: </a:t>
            </a:r>
            <a:pPr indent="0" marL="0">
              <a:buNone/>
            </a:pPr>
            <a:r>
              <a:rPr lang="en-US" sz="13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視覚2文字36を実施せず約82,000円。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精度: Bは6水準×約600対/水準（SE≈1.6%）。fracは各36セッション=7,200試行を階層モデルで部分プーリング。視覚1文字は fade・blur に絞り1提示法あたり1.5倍のデータ量。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PILOTS READY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第1段階のパイロットは3本とも実装済み・動作確認済み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pilot_soa_visual.html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かな1文字を露出D={100..700}msで提示→後方マスク→50音回答。f(D)の飽和を見る。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結果: SOA/露出別の曲線+表+JSON保存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視覚B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00600" y="2423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pilot_soa_visual2.html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28346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char1をSOAまで提示→char2が上書き→マスク。両文字を回答し、位置別の干渉を見る。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結果: SOA/露出別の曲線+表+JSON保存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聴覚B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732520" y="2423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pilot_soa_audio.html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732520" y="28346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単音プール(B3)の2文字をWeb Audioでサンプル精度スケジュール。正解表が必要な研究者専用。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3252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結果: SOA/露出別の曲線+表+JSON保存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いずれも自己完結（jsPsych・サーバ不要）。URLパラメータで水準・試行数を調整可。frac用の既存パイロット4本も引き続き利用可能。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 — 想定結果版を大改稿、以後はWordの校閲で編集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貢献 (ツール公開を追加)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745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図10 表2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想定結果の図を含む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745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[44]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 (実在確認済み)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0" y="17373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8745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5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6.5節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18320" y="2606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他言語への展開を新設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情報処理学会論文誌ふうの2段組。5章は疑似データによる「想定結果」の体裁（想定結果版と明示）。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音程一定(3.4)・提示速度可変(2.6, 4章, 5章)・二段階の実施計画と予算(4.7, 表2)を変更履歴で反映済み。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編集運用: 生成スクリプトの再実行は禁止。以後は docx 上の校閲（変更履歴・author=Claude）で編集し、承認/却下で確定。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本実験で実データが得られたら5章を置き換える。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TOOL RELEASE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 ifont_tool — CLI + MCPサーバとして公開（貢献4）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何ができるか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テキスト・音階・速度 → 字幕と音声が同期した動画(mp4)を出力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各文字はgのスケジュールでfade（時間ゲート提示）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音高は1文字ごとに自由設計（--pitch カンマ区切り）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MCPサーバでLLMから直接操作可能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457200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1E2A5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ifont-render --text "ちはやふる" --pitch E4 --speed 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配布とライセンス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コード: MIT。字形: BIZ UDGothic (SIL OFL 1.1) — 生成動画の再配布に制限なし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音声: 既定はトーン合成（自己完結）。VOICEVOXは任意・エンジン非同梱・話者クレジット必須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Speech APIは検証の結果不採用（Hz指定不可・波形取得不可）。Web公開は「事前合成+Web Audio」の現行方式が正解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THIRD_PARTY_NOTICES.md に整理済み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EVIDENCE (STILL VALID)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裏づけ済みのエビデンス（従来の検証は引き続き有効）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65176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同一かなの単音対語中の乖離(MCD 15.5)は別かな間(8.2)の約2倍 → 聴覚2文字課題の必要性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574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約2割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41248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B3→E4上昇音高の寄与は乖離全体の約2割 → 音程一定化・比較の公平性の根拠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7→2種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40690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刺激強度で事前選別(7→3)ののち、測定は文献互換の fade・blur に集中。moya・morph は実装・デモとして温存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840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160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5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99.9%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40690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百人一首のかな連接の現代語妥当性(出現被覆は41〜53%) → 合成音声を主軸にする根拠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刺激プールは本番salt・は/へ修正済みで本実験投入可。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 — 何ができていて、何が残っているか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論文: 大改稿+音程一定+提示速度可変+二段階計画+6.5他言語 (校閲反映済み)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 ifont_tool (CLI+MCP) 公開・音高の1文字ごと設計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第1段階パイロット3本 (視覚A/視覚B/聴覚B) 実装・動作確認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関連研究の独立Wordメモ (短時間提示・RSVP・マスキング)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刺激プール本番salt・すべてGitHubへpush済み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5B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残り（判断・操作が必要）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倫理審査の承認 (審議 7/15) — 本実験の開始ゲート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PIがパイロット3本を体感 → 水準・試行数の微調整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パイロットの本番化 (GAS保存・完了コード・同意画面)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GASデプロイ・SUBMIT_URL設定・noindex解除 (要Google操作)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8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論文の校閲 (変更履歴) の承認/却下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4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まとめと次の一歩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347472" cy="347472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" y="18562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E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枠組みは変換 g に一本化。音程は一定で測り、実用は自由設計。提示速度は独立変数に。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953512"/>
            <a:ext cx="347472" cy="347472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9352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9077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0" y="2907792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E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二段階: 較正(視覚A/視覚B/聴覚B)→0.2秒の干渉判定→fracの構成確定。最悪でも10万円以下。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032504"/>
            <a:ext cx="347472" cy="347472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401421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98678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0" y="3986784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E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パイロット3本+ツール(CLI/MCP)+論文(校閲運用)がそろい、倫理承認後すぐ動ける状態。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5111496"/>
            <a:ext cx="347472" cy="347472"/>
          </a:xfrm>
          <a:prstGeom prst="ellipse">
            <a:avLst/>
          </a:prstGeom>
          <a:solidFill>
            <a:srgbClr val="C25B4E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" y="5093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50657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743200" y="5065776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E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7/15の審議 → PIのパイロット体感 → 第1段階の実施と判定 → 第2段階フルセット。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github.com/qurihara/iFont  /  scrapbox.io/qurihara/iFont  /  2026-07-13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iFont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2026-07-13T20:10:23Z</dcterms:created>
  <dcterms:modified xsi:type="dcterms:W3CDTF">2026-07-13T20:10:23Z</dcterms:modified>
</cp:coreProperties>
</file>